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73" r:id="rId9"/>
    <p:sldId id="274" r:id="rId10"/>
    <p:sldId id="263" r:id="rId11"/>
    <p:sldId id="264" r:id="rId12"/>
    <p:sldId id="265" r:id="rId13"/>
    <p:sldId id="266" r:id="rId14"/>
    <p:sldId id="275" r:id="rId15"/>
    <p:sldId id="276" r:id="rId16"/>
    <p:sldId id="277" r:id="rId17"/>
    <p:sldId id="278" r:id="rId18"/>
    <p:sldId id="267" r:id="rId19"/>
    <p:sldId id="283" r:id="rId20"/>
    <p:sldId id="284" r:id="rId21"/>
    <p:sldId id="268" r:id="rId22"/>
    <p:sldId id="285" r:id="rId23"/>
    <p:sldId id="269" r:id="rId24"/>
    <p:sldId id="286" r:id="rId25"/>
    <p:sldId id="270" r:id="rId26"/>
    <p:sldId id="287" r:id="rId27"/>
    <p:sldId id="272" r:id="rId28"/>
    <p:sldId id="279" r:id="rId29"/>
    <p:sldId id="280" r:id="rId30"/>
    <p:sldId id="282" r:id="rId31"/>
    <p:sldId id="281"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9588A-5722-46E0-BFE0-2C13547AA03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7034220-8CAB-49EC-960E-962D4AAB56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25341CB-FA66-425E-8D43-F31A00FCD412}"/>
              </a:ext>
            </a:extLst>
          </p:cNvPr>
          <p:cNvSpPr>
            <a:spLocks noGrp="1"/>
          </p:cNvSpPr>
          <p:nvPr>
            <p:ph type="dt" sz="half" idx="10"/>
          </p:nvPr>
        </p:nvSpPr>
        <p:spPr/>
        <p:txBody>
          <a:bodyPr/>
          <a:lstStyle/>
          <a:p>
            <a:fld id="{211BB268-622A-4647-B530-422E71CBDD10}" type="datetimeFigureOut">
              <a:rPr lang="en-IN" smtClean="0"/>
              <a:t>24-04-2022</a:t>
            </a:fld>
            <a:endParaRPr lang="en-IN"/>
          </a:p>
        </p:txBody>
      </p:sp>
      <p:sp>
        <p:nvSpPr>
          <p:cNvPr id="5" name="Footer Placeholder 4">
            <a:extLst>
              <a:ext uri="{FF2B5EF4-FFF2-40B4-BE49-F238E27FC236}">
                <a16:creationId xmlns:a16="http://schemas.microsoft.com/office/drawing/2014/main" id="{903DB449-BF68-47F1-8157-F57269EABF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4CF4EA-328B-4BB6-BBE1-63E493455BFC}"/>
              </a:ext>
            </a:extLst>
          </p:cNvPr>
          <p:cNvSpPr>
            <a:spLocks noGrp="1"/>
          </p:cNvSpPr>
          <p:nvPr>
            <p:ph type="sldNum" sz="quarter" idx="12"/>
          </p:nvPr>
        </p:nvSpPr>
        <p:spPr/>
        <p:txBody>
          <a:bodyPr/>
          <a:lstStyle/>
          <a:p>
            <a:fld id="{93D1AAA9-381B-4AE1-A9A5-CEDACEBD49A2}" type="slidenum">
              <a:rPr lang="en-IN" smtClean="0"/>
              <a:t>‹#›</a:t>
            </a:fld>
            <a:endParaRPr lang="en-IN"/>
          </a:p>
        </p:txBody>
      </p:sp>
    </p:spTree>
    <p:extLst>
      <p:ext uri="{BB962C8B-B14F-4D97-AF65-F5344CB8AC3E}">
        <p14:creationId xmlns:p14="http://schemas.microsoft.com/office/powerpoint/2010/main" val="7037487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28946-0984-409F-865A-85C11A6AED6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3E17916-82FE-49A7-B70A-237659B13E9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A8BED29-137F-42A8-BD59-29B439F297B4}"/>
              </a:ext>
            </a:extLst>
          </p:cNvPr>
          <p:cNvSpPr>
            <a:spLocks noGrp="1"/>
          </p:cNvSpPr>
          <p:nvPr>
            <p:ph type="dt" sz="half" idx="10"/>
          </p:nvPr>
        </p:nvSpPr>
        <p:spPr/>
        <p:txBody>
          <a:bodyPr/>
          <a:lstStyle/>
          <a:p>
            <a:fld id="{211BB268-622A-4647-B530-422E71CBDD10}" type="datetimeFigureOut">
              <a:rPr lang="en-IN" smtClean="0"/>
              <a:t>24-04-2022</a:t>
            </a:fld>
            <a:endParaRPr lang="en-IN"/>
          </a:p>
        </p:txBody>
      </p:sp>
      <p:sp>
        <p:nvSpPr>
          <p:cNvPr id="5" name="Footer Placeholder 4">
            <a:extLst>
              <a:ext uri="{FF2B5EF4-FFF2-40B4-BE49-F238E27FC236}">
                <a16:creationId xmlns:a16="http://schemas.microsoft.com/office/drawing/2014/main" id="{C05CB350-C109-4DAF-8FC5-387BC2E7AAF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BB1E9A-21B6-4D4F-8970-ED0282AC0729}"/>
              </a:ext>
            </a:extLst>
          </p:cNvPr>
          <p:cNvSpPr>
            <a:spLocks noGrp="1"/>
          </p:cNvSpPr>
          <p:nvPr>
            <p:ph type="sldNum" sz="quarter" idx="12"/>
          </p:nvPr>
        </p:nvSpPr>
        <p:spPr/>
        <p:txBody>
          <a:bodyPr/>
          <a:lstStyle/>
          <a:p>
            <a:fld id="{93D1AAA9-381B-4AE1-A9A5-CEDACEBD49A2}" type="slidenum">
              <a:rPr lang="en-IN" smtClean="0"/>
              <a:t>‹#›</a:t>
            </a:fld>
            <a:endParaRPr lang="en-IN"/>
          </a:p>
        </p:txBody>
      </p:sp>
    </p:spTree>
    <p:extLst>
      <p:ext uri="{BB962C8B-B14F-4D97-AF65-F5344CB8AC3E}">
        <p14:creationId xmlns:p14="http://schemas.microsoft.com/office/powerpoint/2010/main" val="4018625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9EB08-AA53-45A1-80A9-C975938D87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131DEE4-6781-46A0-8744-DCA64F0D34B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4A1CC9-C293-4D6B-8AC9-0CB562073E79}"/>
              </a:ext>
            </a:extLst>
          </p:cNvPr>
          <p:cNvSpPr>
            <a:spLocks noGrp="1"/>
          </p:cNvSpPr>
          <p:nvPr>
            <p:ph type="dt" sz="half" idx="10"/>
          </p:nvPr>
        </p:nvSpPr>
        <p:spPr/>
        <p:txBody>
          <a:bodyPr/>
          <a:lstStyle/>
          <a:p>
            <a:fld id="{211BB268-622A-4647-B530-422E71CBDD10}" type="datetimeFigureOut">
              <a:rPr lang="en-IN" smtClean="0"/>
              <a:t>24-04-2022</a:t>
            </a:fld>
            <a:endParaRPr lang="en-IN"/>
          </a:p>
        </p:txBody>
      </p:sp>
      <p:sp>
        <p:nvSpPr>
          <p:cNvPr id="5" name="Footer Placeholder 4">
            <a:extLst>
              <a:ext uri="{FF2B5EF4-FFF2-40B4-BE49-F238E27FC236}">
                <a16:creationId xmlns:a16="http://schemas.microsoft.com/office/drawing/2014/main" id="{EE97ABDE-6C47-476E-B31D-4F77733C1F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2FB3CA-233B-4DDB-B8CE-EB81DD48BB8D}"/>
              </a:ext>
            </a:extLst>
          </p:cNvPr>
          <p:cNvSpPr>
            <a:spLocks noGrp="1"/>
          </p:cNvSpPr>
          <p:nvPr>
            <p:ph type="sldNum" sz="quarter" idx="12"/>
          </p:nvPr>
        </p:nvSpPr>
        <p:spPr/>
        <p:txBody>
          <a:bodyPr/>
          <a:lstStyle/>
          <a:p>
            <a:fld id="{93D1AAA9-381B-4AE1-A9A5-CEDACEBD49A2}" type="slidenum">
              <a:rPr lang="en-IN" smtClean="0"/>
              <a:t>‹#›</a:t>
            </a:fld>
            <a:endParaRPr lang="en-IN"/>
          </a:p>
        </p:txBody>
      </p:sp>
    </p:spTree>
    <p:extLst>
      <p:ext uri="{BB962C8B-B14F-4D97-AF65-F5344CB8AC3E}">
        <p14:creationId xmlns:p14="http://schemas.microsoft.com/office/powerpoint/2010/main" val="41179210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2870E-D5D9-4F08-9D24-9E58D2D8F9A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B068A75-81A7-49D3-8019-65EC8DF300C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2E9D29C-40BB-4EC5-99B6-E80EE5A2646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E85ECF8-EA25-4BFF-9ACD-45C4614067E2}"/>
              </a:ext>
            </a:extLst>
          </p:cNvPr>
          <p:cNvSpPr>
            <a:spLocks noGrp="1"/>
          </p:cNvSpPr>
          <p:nvPr>
            <p:ph type="dt" sz="half" idx="10"/>
          </p:nvPr>
        </p:nvSpPr>
        <p:spPr/>
        <p:txBody>
          <a:bodyPr/>
          <a:lstStyle/>
          <a:p>
            <a:fld id="{211BB268-622A-4647-B530-422E71CBDD10}" type="datetimeFigureOut">
              <a:rPr lang="en-IN" smtClean="0"/>
              <a:t>24-04-2022</a:t>
            </a:fld>
            <a:endParaRPr lang="en-IN"/>
          </a:p>
        </p:txBody>
      </p:sp>
      <p:sp>
        <p:nvSpPr>
          <p:cNvPr id="6" name="Footer Placeholder 5">
            <a:extLst>
              <a:ext uri="{FF2B5EF4-FFF2-40B4-BE49-F238E27FC236}">
                <a16:creationId xmlns:a16="http://schemas.microsoft.com/office/drawing/2014/main" id="{04E70B79-AEE3-48D1-ACFB-CCE99F900D8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362F641-47E1-46FE-91B4-9FCE4BD2581E}"/>
              </a:ext>
            </a:extLst>
          </p:cNvPr>
          <p:cNvSpPr>
            <a:spLocks noGrp="1"/>
          </p:cNvSpPr>
          <p:nvPr>
            <p:ph type="sldNum" sz="quarter" idx="12"/>
          </p:nvPr>
        </p:nvSpPr>
        <p:spPr/>
        <p:txBody>
          <a:bodyPr/>
          <a:lstStyle/>
          <a:p>
            <a:fld id="{93D1AAA9-381B-4AE1-A9A5-CEDACEBD49A2}" type="slidenum">
              <a:rPr lang="en-IN" smtClean="0"/>
              <a:t>‹#›</a:t>
            </a:fld>
            <a:endParaRPr lang="en-IN"/>
          </a:p>
        </p:txBody>
      </p:sp>
    </p:spTree>
    <p:extLst>
      <p:ext uri="{BB962C8B-B14F-4D97-AF65-F5344CB8AC3E}">
        <p14:creationId xmlns:p14="http://schemas.microsoft.com/office/powerpoint/2010/main" val="1698405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571FA-509A-41DF-BB42-3B0C3953A8A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9D447FD-1595-4D69-B72E-9A17C1EA79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5312D8-B5CE-43F7-8029-B9C533CE778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9041432-80BB-4623-8E27-2ED332AF6E5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E802399-8584-41A7-A486-C321EAAD31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EEB06ED-3C4E-4BC1-8989-1551A477FE05}"/>
              </a:ext>
            </a:extLst>
          </p:cNvPr>
          <p:cNvSpPr>
            <a:spLocks noGrp="1"/>
          </p:cNvSpPr>
          <p:nvPr>
            <p:ph type="dt" sz="half" idx="10"/>
          </p:nvPr>
        </p:nvSpPr>
        <p:spPr/>
        <p:txBody>
          <a:bodyPr/>
          <a:lstStyle/>
          <a:p>
            <a:fld id="{211BB268-622A-4647-B530-422E71CBDD10}" type="datetimeFigureOut">
              <a:rPr lang="en-IN" smtClean="0"/>
              <a:t>24-04-2022</a:t>
            </a:fld>
            <a:endParaRPr lang="en-IN"/>
          </a:p>
        </p:txBody>
      </p:sp>
      <p:sp>
        <p:nvSpPr>
          <p:cNvPr id="8" name="Footer Placeholder 7">
            <a:extLst>
              <a:ext uri="{FF2B5EF4-FFF2-40B4-BE49-F238E27FC236}">
                <a16:creationId xmlns:a16="http://schemas.microsoft.com/office/drawing/2014/main" id="{D48BBDE6-4533-4F65-81F3-2C9FF83C16F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64A0A04-8E6A-469B-A430-88838C87A7CF}"/>
              </a:ext>
            </a:extLst>
          </p:cNvPr>
          <p:cNvSpPr>
            <a:spLocks noGrp="1"/>
          </p:cNvSpPr>
          <p:nvPr>
            <p:ph type="sldNum" sz="quarter" idx="12"/>
          </p:nvPr>
        </p:nvSpPr>
        <p:spPr/>
        <p:txBody>
          <a:bodyPr/>
          <a:lstStyle/>
          <a:p>
            <a:fld id="{93D1AAA9-381B-4AE1-A9A5-CEDACEBD49A2}" type="slidenum">
              <a:rPr lang="en-IN" smtClean="0"/>
              <a:t>‹#›</a:t>
            </a:fld>
            <a:endParaRPr lang="en-IN"/>
          </a:p>
        </p:txBody>
      </p:sp>
    </p:spTree>
    <p:extLst>
      <p:ext uri="{BB962C8B-B14F-4D97-AF65-F5344CB8AC3E}">
        <p14:creationId xmlns:p14="http://schemas.microsoft.com/office/powerpoint/2010/main" val="3941381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19414-0948-4182-AEEC-F9453F2D70E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924A82E-5CF8-4D8A-B4EB-5F07D1425A98}"/>
              </a:ext>
            </a:extLst>
          </p:cNvPr>
          <p:cNvSpPr>
            <a:spLocks noGrp="1"/>
          </p:cNvSpPr>
          <p:nvPr>
            <p:ph type="dt" sz="half" idx="10"/>
          </p:nvPr>
        </p:nvSpPr>
        <p:spPr/>
        <p:txBody>
          <a:bodyPr/>
          <a:lstStyle/>
          <a:p>
            <a:fld id="{211BB268-622A-4647-B530-422E71CBDD10}" type="datetimeFigureOut">
              <a:rPr lang="en-IN" smtClean="0"/>
              <a:t>24-04-2022</a:t>
            </a:fld>
            <a:endParaRPr lang="en-IN"/>
          </a:p>
        </p:txBody>
      </p:sp>
      <p:sp>
        <p:nvSpPr>
          <p:cNvPr id="4" name="Footer Placeholder 3">
            <a:extLst>
              <a:ext uri="{FF2B5EF4-FFF2-40B4-BE49-F238E27FC236}">
                <a16:creationId xmlns:a16="http://schemas.microsoft.com/office/drawing/2014/main" id="{CEDADA62-564A-4269-9EF4-B24BA7B555E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7039709-D73B-4BF3-AAE0-B72F505E5DAD}"/>
              </a:ext>
            </a:extLst>
          </p:cNvPr>
          <p:cNvSpPr>
            <a:spLocks noGrp="1"/>
          </p:cNvSpPr>
          <p:nvPr>
            <p:ph type="sldNum" sz="quarter" idx="12"/>
          </p:nvPr>
        </p:nvSpPr>
        <p:spPr/>
        <p:txBody>
          <a:bodyPr/>
          <a:lstStyle/>
          <a:p>
            <a:fld id="{93D1AAA9-381B-4AE1-A9A5-CEDACEBD49A2}" type="slidenum">
              <a:rPr lang="en-IN" smtClean="0"/>
              <a:t>‹#›</a:t>
            </a:fld>
            <a:endParaRPr lang="en-IN"/>
          </a:p>
        </p:txBody>
      </p:sp>
    </p:spTree>
    <p:extLst>
      <p:ext uri="{BB962C8B-B14F-4D97-AF65-F5344CB8AC3E}">
        <p14:creationId xmlns:p14="http://schemas.microsoft.com/office/powerpoint/2010/main" val="1706209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19E7DB-9983-442B-8076-C9AE39683C8C}"/>
              </a:ext>
            </a:extLst>
          </p:cNvPr>
          <p:cNvSpPr>
            <a:spLocks noGrp="1"/>
          </p:cNvSpPr>
          <p:nvPr>
            <p:ph type="dt" sz="half" idx="10"/>
          </p:nvPr>
        </p:nvSpPr>
        <p:spPr/>
        <p:txBody>
          <a:bodyPr/>
          <a:lstStyle/>
          <a:p>
            <a:fld id="{211BB268-622A-4647-B530-422E71CBDD10}" type="datetimeFigureOut">
              <a:rPr lang="en-IN" smtClean="0"/>
              <a:t>24-04-2022</a:t>
            </a:fld>
            <a:endParaRPr lang="en-IN"/>
          </a:p>
        </p:txBody>
      </p:sp>
      <p:sp>
        <p:nvSpPr>
          <p:cNvPr id="3" name="Footer Placeholder 2">
            <a:extLst>
              <a:ext uri="{FF2B5EF4-FFF2-40B4-BE49-F238E27FC236}">
                <a16:creationId xmlns:a16="http://schemas.microsoft.com/office/drawing/2014/main" id="{FBFA9EBE-64F0-45C3-BD54-7B9A05A7F39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8E65228-4A69-4EF0-A68F-AEB085608063}"/>
              </a:ext>
            </a:extLst>
          </p:cNvPr>
          <p:cNvSpPr>
            <a:spLocks noGrp="1"/>
          </p:cNvSpPr>
          <p:nvPr>
            <p:ph type="sldNum" sz="quarter" idx="12"/>
          </p:nvPr>
        </p:nvSpPr>
        <p:spPr/>
        <p:txBody>
          <a:bodyPr/>
          <a:lstStyle/>
          <a:p>
            <a:fld id="{93D1AAA9-381B-4AE1-A9A5-CEDACEBD49A2}" type="slidenum">
              <a:rPr lang="en-IN" smtClean="0"/>
              <a:t>‹#›</a:t>
            </a:fld>
            <a:endParaRPr lang="en-IN"/>
          </a:p>
        </p:txBody>
      </p:sp>
    </p:spTree>
    <p:extLst>
      <p:ext uri="{BB962C8B-B14F-4D97-AF65-F5344CB8AC3E}">
        <p14:creationId xmlns:p14="http://schemas.microsoft.com/office/powerpoint/2010/main" val="125237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C144B-87D5-4582-BCD2-DD0CBB539D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76056D9-8C0A-4C92-B6DE-B3A6BCDE0B4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A73227D-A1ED-4629-ABAF-989F478A1F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E50C53-4C1F-49A7-8075-80394E4E077C}"/>
              </a:ext>
            </a:extLst>
          </p:cNvPr>
          <p:cNvSpPr>
            <a:spLocks noGrp="1"/>
          </p:cNvSpPr>
          <p:nvPr>
            <p:ph type="dt" sz="half" idx="10"/>
          </p:nvPr>
        </p:nvSpPr>
        <p:spPr/>
        <p:txBody>
          <a:bodyPr/>
          <a:lstStyle/>
          <a:p>
            <a:fld id="{211BB268-622A-4647-B530-422E71CBDD10}" type="datetimeFigureOut">
              <a:rPr lang="en-IN" smtClean="0"/>
              <a:t>24-04-2022</a:t>
            </a:fld>
            <a:endParaRPr lang="en-IN"/>
          </a:p>
        </p:txBody>
      </p:sp>
      <p:sp>
        <p:nvSpPr>
          <p:cNvPr id="6" name="Footer Placeholder 5">
            <a:extLst>
              <a:ext uri="{FF2B5EF4-FFF2-40B4-BE49-F238E27FC236}">
                <a16:creationId xmlns:a16="http://schemas.microsoft.com/office/drawing/2014/main" id="{55DA1D99-019D-4BBA-8938-C192E66A405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02A35F5-77AE-47B7-9C88-6DDB1A953BB2}"/>
              </a:ext>
            </a:extLst>
          </p:cNvPr>
          <p:cNvSpPr>
            <a:spLocks noGrp="1"/>
          </p:cNvSpPr>
          <p:nvPr>
            <p:ph type="sldNum" sz="quarter" idx="12"/>
          </p:nvPr>
        </p:nvSpPr>
        <p:spPr/>
        <p:txBody>
          <a:bodyPr/>
          <a:lstStyle/>
          <a:p>
            <a:fld id="{93D1AAA9-381B-4AE1-A9A5-CEDACEBD49A2}" type="slidenum">
              <a:rPr lang="en-IN" smtClean="0"/>
              <a:t>‹#›</a:t>
            </a:fld>
            <a:endParaRPr lang="en-IN"/>
          </a:p>
        </p:txBody>
      </p:sp>
    </p:spTree>
    <p:extLst>
      <p:ext uri="{BB962C8B-B14F-4D97-AF65-F5344CB8AC3E}">
        <p14:creationId xmlns:p14="http://schemas.microsoft.com/office/powerpoint/2010/main" val="8293691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417FF-6404-4B17-A0F1-25A317989C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472D721-B827-4175-94EE-218695C52E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8EA4E33-64CB-4994-95FE-9DB13ED3DE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66A0B1-482D-43D4-9C6C-9AD84F54A3C0}"/>
              </a:ext>
            </a:extLst>
          </p:cNvPr>
          <p:cNvSpPr>
            <a:spLocks noGrp="1"/>
          </p:cNvSpPr>
          <p:nvPr>
            <p:ph type="dt" sz="half" idx="10"/>
          </p:nvPr>
        </p:nvSpPr>
        <p:spPr/>
        <p:txBody>
          <a:bodyPr/>
          <a:lstStyle/>
          <a:p>
            <a:fld id="{211BB268-622A-4647-B530-422E71CBDD10}" type="datetimeFigureOut">
              <a:rPr lang="en-IN" smtClean="0"/>
              <a:t>24-04-2022</a:t>
            </a:fld>
            <a:endParaRPr lang="en-IN"/>
          </a:p>
        </p:txBody>
      </p:sp>
      <p:sp>
        <p:nvSpPr>
          <p:cNvPr id="6" name="Footer Placeholder 5">
            <a:extLst>
              <a:ext uri="{FF2B5EF4-FFF2-40B4-BE49-F238E27FC236}">
                <a16:creationId xmlns:a16="http://schemas.microsoft.com/office/drawing/2014/main" id="{52A3207E-4008-485D-993C-574245EE771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7E9FFAD-61D5-4B7B-9713-3E781A72D078}"/>
              </a:ext>
            </a:extLst>
          </p:cNvPr>
          <p:cNvSpPr>
            <a:spLocks noGrp="1"/>
          </p:cNvSpPr>
          <p:nvPr>
            <p:ph type="sldNum" sz="quarter" idx="12"/>
          </p:nvPr>
        </p:nvSpPr>
        <p:spPr/>
        <p:txBody>
          <a:bodyPr/>
          <a:lstStyle/>
          <a:p>
            <a:fld id="{93D1AAA9-381B-4AE1-A9A5-CEDACEBD49A2}" type="slidenum">
              <a:rPr lang="en-IN" smtClean="0"/>
              <a:t>‹#›</a:t>
            </a:fld>
            <a:endParaRPr lang="en-IN"/>
          </a:p>
        </p:txBody>
      </p:sp>
    </p:spTree>
    <p:extLst>
      <p:ext uri="{BB962C8B-B14F-4D97-AF65-F5344CB8AC3E}">
        <p14:creationId xmlns:p14="http://schemas.microsoft.com/office/powerpoint/2010/main" val="980644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147B9-4667-46F8-A820-AF819BD694C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A4677CF-370D-4700-90E2-014256BD551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4B5CBBA-CB78-4F28-8D4A-2296517FBB3D}"/>
              </a:ext>
            </a:extLst>
          </p:cNvPr>
          <p:cNvSpPr>
            <a:spLocks noGrp="1"/>
          </p:cNvSpPr>
          <p:nvPr>
            <p:ph type="dt" sz="half" idx="10"/>
          </p:nvPr>
        </p:nvSpPr>
        <p:spPr/>
        <p:txBody>
          <a:bodyPr/>
          <a:lstStyle/>
          <a:p>
            <a:fld id="{211BB268-622A-4647-B530-422E71CBDD10}" type="datetimeFigureOut">
              <a:rPr lang="en-IN" smtClean="0"/>
              <a:t>24-04-2022</a:t>
            </a:fld>
            <a:endParaRPr lang="en-IN"/>
          </a:p>
        </p:txBody>
      </p:sp>
      <p:sp>
        <p:nvSpPr>
          <p:cNvPr id="5" name="Footer Placeholder 4">
            <a:extLst>
              <a:ext uri="{FF2B5EF4-FFF2-40B4-BE49-F238E27FC236}">
                <a16:creationId xmlns:a16="http://schemas.microsoft.com/office/drawing/2014/main" id="{960D271E-B480-405C-B628-BCEB32ADC5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649EBB-9C62-4208-ABC3-AB56018E7927}"/>
              </a:ext>
            </a:extLst>
          </p:cNvPr>
          <p:cNvSpPr>
            <a:spLocks noGrp="1"/>
          </p:cNvSpPr>
          <p:nvPr>
            <p:ph type="sldNum" sz="quarter" idx="12"/>
          </p:nvPr>
        </p:nvSpPr>
        <p:spPr/>
        <p:txBody>
          <a:bodyPr/>
          <a:lstStyle/>
          <a:p>
            <a:fld id="{93D1AAA9-381B-4AE1-A9A5-CEDACEBD49A2}" type="slidenum">
              <a:rPr lang="en-IN" smtClean="0"/>
              <a:t>‹#›</a:t>
            </a:fld>
            <a:endParaRPr lang="en-IN"/>
          </a:p>
        </p:txBody>
      </p:sp>
    </p:spTree>
    <p:extLst>
      <p:ext uri="{BB962C8B-B14F-4D97-AF65-F5344CB8AC3E}">
        <p14:creationId xmlns:p14="http://schemas.microsoft.com/office/powerpoint/2010/main" val="10633306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A3FDE40-DBBE-41E3-BE72-22B70D04EED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EB80E15-7220-4365-A39A-8C3F52ABDB1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82FA4A-2C61-4F84-A9A0-E4C42FB87A96}"/>
              </a:ext>
            </a:extLst>
          </p:cNvPr>
          <p:cNvSpPr>
            <a:spLocks noGrp="1"/>
          </p:cNvSpPr>
          <p:nvPr>
            <p:ph type="dt" sz="half" idx="10"/>
          </p:nvPr>
        </p:nvSpPr>
        <p:spPr/>
        <p:txBody>
          <a:bodyPr/>
          <a:lstStyle/>
          <a:p>
            <a:fld id="{211BB268-622A-4647-B530-422E71CBDD10}" type="datetimeFigureOut">
              <a:rPr lang="en-IN" smtClean="0"/>
              <a:t>24-04-2022</a:t>
            </a:fld>
            <a:endParaRPr lang="en-IN"/>
          </a:p>
        </p:txBody>
      </p:sp>
      <p:sp>
        <p:nvSpPr>
          <p:cNvPr id="5" name="Footer Placeholder 4">
            <a:extLst>
              <a:ext uri="{FF2B5EF4-FFF2-40B4-BE49-F238E27FC236}">
                <a16:creationId xmlns:a16="http://schemas.microsoft.com/office/drawing/2014/main" id="{8B3737BE-EC50-40CE-920B-CFA97E3A166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F813699-6C99-410E-8A96-7910AD0AD275}"/>
              </a:ext>
            </a:extLst>
          </p:cNvPr>
          <p:cNvSpPr>
            <a:spLocks noGrp="1"/>
          </p:cNvSpPr>
          <p:nvPr>
            <p:ph type="sldNum" sz="quarter" idx="12"/>
          </p:nvPr>
        </p:nvSpPr>
        <p:spPr/>
        <p:txBody>
          <a:bodyPr/>
          <a:lstStyle/>
          <a:p>
            <a:fld id="{93D1AAA9-381B-4AE1-A9A5-CEDACEBD49A2}" type="slidenum">
              <a:rPr lang="en-IN" smtClean="0"/>
              <a:t>‹#›</a:t>
            </a:fld>
            <a:endParaRPr lang="en-IN"/>
          </a:p>
        </p:txBody>
      </p:sp>
    </p:spTree>
    <p:extLst>
      <p:ext uri="{BB962C8B-B14F-4D97-AF65-F5344CB8AC3E}">
        <p14:creationId xmlns:p14="http://schemas.microsoft.com/office/powerpoint/2010/main" val="39462630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44B791-9D03-4345-8000-70F0AED8B2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3199A14-FD8B-462D-8D29-2D6AB6F33F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5DEC00-5D08-4FA5-B5D6-87E7E535EB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1BB268-622A-4647-B530-422E71CBDD10}" type="datetimeFigureOut">
              <a:rPr lang="en-IN" smtClean="0"/>
              <a:t>24-04-2022</a:t>
            </a:fld>
            <a:endParaRPr lang="en-IN"/>
          </a:p>
        </p:txBody>
      </p:sp>
      <p:sp>
        <p:nvSpPr>
          <p:cNvPr id="5" name="Footer Placeholder 4">
            <a:extLst>
              <a:ext uri="{FF2B5EF4-FFF2-40B4-BE49-F238E27FC236}">
                <a16:creationId xmlns:a16="http://schemas.microsoft.com/office/drawing/2014/main" id="{A5E4D501-D50F-4C8D-A9EC-E8ECE89909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0FD3D0E-6078-4581-A8CC-36D4949A24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D1AAA9-381B-4AE1-A9A5-CEDACEBD49A2}" type="slidenum">
              <a:rPr lang="en-IN" smtClean="0"/>
              <a:t>‹#›</a:t>
            </a:fld>
            <a:endParaRPr lang="en-IN"/>
          </a:p>
        </p:txBody>
      </p:sp>
    </p:spTree>
    <p:extLst>
      <p:ext uri="{BB962C8B-B14F-4D97-AF65-F5344CB8AC3E}">
        <p14:creationId xmlns:p14="http://schemas.microsoft.com/office/powerpoint/2010/main" val="33375195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40D66-1937-423A-A7CC-9A21CB42F99A}"/>
              </a:ext>
            </a:extLst>
          </p:cNvPr>
          <p:cNvSpPr>
            <a:spLocks noGrp="1"/>
          </p:cNvSpPr>
          <p:nvPr>
            <p:ph type="ctrTitle"/>
          </p:nvPr>
        </p:nvSpPr>
        <p:spPr/>
        <p:txBody>
          <a:bodyPr/>
          <a:lstStyle/>
          <a:p>
            <a:r>
              <a:rPr lang="en-US" b="1" dirty="0">
                <a:latin typeface="Roboto" panose="02000000000000000000" pitchFamily="2" charset="0"/>
                <a:ea typeface="Roboto" panose="02000000000000000000" pitchFamily="2" charset="0"/>
              </a:rPr>
              <a:t>Data Analytics</a:t>
            </a:r>
            <a:endParaRPr lang="en-IN" b="1" dirty="0">
              <a:latin typeface="Roboto" panose="02000000000000000000" pitchFamily="2" charset="0"/>
              <a:ea typeface="Roboto" panose="02000000000000000000" pitchFamily="2" charset="0"/>
            </a:endParaRPr>
          </a:p>
        </p:txBody>
      </p:sp>
      <p:sp>
        <p:nvSpPr>
          <p:cNvPr id="3" name="Subtitle 2">
            <a:extLst>
              <a:ext uri="{FF2B5EF4-FFF2-40B4-BE49-F238E27FC236}">
                <a16:creationId xmlns:a16="http://schemas.microsoft.com/office/drawing/2014/main" id="{183EFA46-0D6F-49B1-80DC-991EBFDEA878}"/>
              </a:ext>
            </a:extLst>
          </p:cNvPr>
          <p:cNvSpPr>
            <a:spLocks noGrp="1"/>
          </p:cNvSpPr>
          <p:nvPr>
            <p:ph type="subTitle" idx="1"/>
          </p:nvPr>
        </p:nvSpPr>
        <p:spPr/>
        <p:txBody>
          <a:bodyPr/>
          <a:lstStyle/>
          <a:p>
            <a:endParaRPr lang="en-US" dirty="0"/>
          </a:p>
          <a:p>
            <a:r>
              <a:rPr lang="en-IN" b="1" dirty="0">
                <a:latin typeface="Roboto" panose="02000000000000000000" pitchFamily="2" charset="0"/>
                <a:ea typeface="Roboto" panose="02000000000000000000" pitchFamily="2" charset="0"/>
              </a:rPr>
              <a:t>Manoj K </a:t>
            </a:r>
            <a:r>
              <a:rPr lang="en-IN" b="1" dirty="0" err="1">
                <a:latin typeface="Roboto" panose="02000000000000000000" pitchFamily="2" charset="0"/>
                <a:ea typeface="Roboto" panose="02000000000000000000" pitchFamily="2" charset="0"/>
              </a:rPr>
              <a:t>Jangra</a:t>
            </a:r>
            <a:endParaRPr lang="en-IN" b="1"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8994639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26630-E5F4-48AD-9B16-A2A3893C2F27}"/>
              </a:ext>
            </a:extLst>
          </p:cNvPr>
          <p:cNvSpPr>
            <a:spLocks noGrp="1"/>
          </p:cNvSpPr>
          <p:nvPr>
            <p:ph type="title"/>
          </p:nvPr>
        </p:nvSpPr>
        <p:spPr/>
        <p:txBody>
          <a:bodyPr/>
          <a:lstStyle/>
          <a:p>
            <a:r>
              <a:rPr lang="en-US" b="1" dirty="0">
                <a:latin typeface="Roboto" panose="02000000000000000000" pitchFamily="2" charset="0"/>
                <a:ea typeface="Roboto" panose="02000000000000000000" pitchFamily="2" charset="0"/>
              </a:rPr>
              <a:t>What is Data Analytics?</a:t>
            </a:r>
            <a:endParaRPr lang="en-IN" b="1" dirty="0">
              <a:latin typeface="Roboto" panose="02000000000000000000" pitchFamily="2" charset="0"/>
              <a:ea typeface="Roboto" panose="02000000000000000000" pitchFamily="2" charset="0"/>
            </a:endParaRPr>
          </a:p>
        </p:txBody>
      </p:sp>
      <p:sp>
        <p:nvSpPr>
          <p:cNvPr id="3" name="Content Placeholder 2">
            <a:extLst>
              <a:ext uri="{FF2B5EF4-FFF2-40B4-BE49-F238E27FC236}">
                <a16:creationId xmlns:a16="http://schemas.microsoft.com/office/drawing/2014/main" id="{A5F838ED-C46E-4F08-B9DD-31F92850CE35}"/>
              </a:ext>
            </a:extLst>
          </p:cNvPr>
          <p:cNvSpPr>
            <a:spLocks noGrp="1"/>
          </p:cNvSpPr>
          <p:nvPr>
            <p:ph idx="1"/>
          </p:nvPr>
        </p:nvSpPr>
        <p:spPr/>
        <p:txBody>
          <a:bodyPr>
            <a:normAutofit fontScale="92500" lnSpcReduction="10000"/>
          </a:bodyPr>
          <a:lstStyle/>
          <a:p>
            <a:pPr marL="0" indent="0">
              <a:buNone/>
            </a:pPr>
            <a:r>
              <a:rPr lang="en-US" dirty="0">
                <a:latin typeface="Roboto" panose="02000000000000000000" pitchFamily="2" charset="0"/>
                <a:ea typeface="Roboto" panose="02000000000000000000" pitchFamily="2" charset="0"/>
              </a:rPr>
              <a:t>Data analytics is the process of </a:t>
            </a:r>
            <a:r>
              <a:rPr lang="en-US" b="1" dirty="0">
                <a:latin typeface="Roboto" panose="02000000000000000000" pitchFamily="2" charset="0"/>
                <a:ea typeface="Roboto" panose="02000000000000000000" pitchFamily="2" charset="0"/>
              </a:rPr>
              <a:t>exploring</a:t>
            </a:r>
            <a:r>
              <a:rPr lang="en-US" dirty="0">
                <a:latin typeface="Roboto" panose="02000000000000000000" pitchFamily="2" charset="0"/>
                <a:ea typeface="Roboto" panose="02000000000000000000" pitchFamily="2" charset="0"/>
              </a:rPr>
              <a:t> and </a:t>
            </a:r>
            <a:r>
              <a:rPr lang="en-US" b="1" dirty="0">
                <a:latin typeface="Roboto" panose="02000000000000000000" pitchFamily="2" charset="0"/>
                <a:ea typeface="Roboto" panose="02000000000000000000" pitchFamily="2" charset="0"/>
              </a:rPr>
              <a:t>analyzing</a:t>
            </a:r>
            <a:r>
              <a:rPr lang="en-US" dirty="0">
                <a:latin typeface="Roboto" panose="02000000000000000000" pitchFamily="2" charset="0"/>
                <a:ea typeface="Roboto" panose="02000000000000000000" pitchFamily="2" charset="0"/>
              </a:rPr>
              <a:t> large datasets to find </a:t>
            </a:r>
            <a:r>
              <a:rPr lang="en-US" b="1" dirty="0">
                <a:latin typeface="Roboto" panose="02000000000000000000" pitchFamily="2" charset="0"/>
                <a:ea typeface="Roboto" panose="02000000000000000000" pitchFamily="2" charset="0"/>
              </a:rPr>
              <a:t>hidden patterns</a:t>
            </a:r>
            <a:r>
              <a:rPr lang="en-US" dirty="0">
                <a:latin typeface="Roboto" panose="02000000000000000000" pitchFamily="2" charset="0"/>
                <a:ea typeface="Roboto" panose="02000000000000000000" pitchFamily="2" charset="0"/>
              </a:rPr>
              <a:t>, </a:t>
            </a:r>
            <a:r>
              <a:rPr lang="en-US" b="1" dirty="0">
                <a:latin typeface="Roboto" panose="02000000000000000000" pitchFamily="2" charset="0"/>
                <a:ea typeface="Roboto" panose="02000000000000000000" pitchFamily="2" charset="0"/>
              </a:rPr>
              <a:t>unseen trends</a:t>
            </a:r>
            <a:r>
              <a:rPr lang="en-US" dirty="0">
                <a:latin typeface="Roboto" panose="02000000000000000000" pitchFamily="2" charset="0"/>
                <a:ea typeface="Roboto" panose="02000000000000000000" pitchFamily="2" charset="0"/>
              </a:rPr>
              <a:t>, </a:t>
            </a:r>
            <a:r>
              <a:rPr lang="en-US" b="1" dirty="0">
                <a:latin typeface="Roboto" panose="02000000000000000000" pitchFamily="2" charset="0"/>
                <a:ea typeface="Roboto" panose="02000000000000000000" pitchFamily="2" charset="0"/>
              </a:rPr>
              <a:t>discover correlations</a:t>
            </a:r>
            <a:r>
              <a:rPr lang="en-US" dirty="0">
                <a:latin typeface="Roboto" panose="02000000000000000000" pitchFamily="2" charset="0"/>
                <a:ea typeface="Roboto" panose="02000000000000000000" pitchFamily="2" charset="0"/>
              </a:rPr>
              <a:t>, and derive </a:t>
            </a:r>
            <a:r>
              <a:rPr lang="en-US" b="1" dirty="0">
                <a:latin typeface="Roboto" panose="02000000000000000000" pitchFamily="2" charset="0"/>
                <a:ea typeface="Roboto" panose="02000000000000000000" pitchFamily="2" charset="0"/>
              </a:rPr>
              <a:t>valuable insights</a:t>
            </a:r>
            <a:r>
              <a:rPr lang="en-US" dirty="0">
                <a:latin typeface="Roboto" panose="02000000000000000000" pitchFamily="2" charset="0"/>
                <a:ea typeface="Roboto" panose="02000000000000000000" pitchFamily="2" charset="0"/>
              </a:rPr>
              <a:t> to make smart </a:t>
            </a:r>
            <a:r>
              <a:rPr lang="en-US" b="1" dirty="0">
                <a:latin typeface="Roboto" panose="02000000000000000000" pitchFamily="2" charset="0"/>
                <a:ea typeface="Roboto" panose="02000000000000000000" pitchFamily="2" charset="0"/>
              </a:rPr>
              <a:t>business decisions</a:t>
            </a:r>
            <a:r>
              <a:rPr lang="en-US" dirty="0">
                <a:latin typeface="Roboto" panose="02000000000000000000" pitchFamily="2" charset="0"/>
                <a:ea typeface="Roboto" panose="02000000000000000000" pitchFamily="2" charset="0"/>
              </a:rPr>
              <a:t>. </a:t>
            </a:r>
          </a:p>
          <a:p>
            <a:pPr marL="0" indent="0">
              <a:buNone/>
            </a:pPr>
            <a:endParaRPr lang="en-US" dirty="0">
              <a:latin typeface="Roboto" panose="02000000000000000000" pitchFamily="2" charset="0"/>
              <a:ea typeface="Roboto" panose="02000000000000000000" pitchFamily="2" charset="0"/>
            </a:endParaRPr>
          </a:p>
          <a:p>
            <a:pPr marL="0" indent="0">
              <a:buNone/>
            </a:pPr>
            <a:r>
              <a:rPr lang="en-US" dirty="0">
                <a:latin typeface="Roboto" panose="02000000000000000000" pitchFamily="2" charset="0"/>
                <a:ea typeface="Roboto" panose="02000000000000000000" pitchFamily="2" charset="0"/>
              </a:rPr>
              <a:t>So, a </a:t>
            </a:r>
            <a:r>
              <a:rPr lang="en-US" b="1" dirty="0">
                <a:latin typeface="Roboto" panose="02000000000000000000" pitchFamily="2" charset="0"/>
                <a:ea typeface="Roboto" panose="02000000000000000000" pitchFamily="2" charset="0"/>
              </a:rPr>
              <a:t>Data Analyst</a:t>
            </a:r>
            <a:r>
              <a:rPr lang="en-US" dirty="0">
                <a:latin typeface="Roboto" panose="02000000000000000000" pitchFamily="2" charset="0"/>
                <a:ea typeface="Roboto" panose="02000000000000000000" pitchFamily="2" charset="0"/>
              </a:rPr>
              <a:t> will extract raw data, organize it, and then analyze it, transforming it from incomprehensible numbers into coherent, intelligible information.</a:t>
            </a:r>
          </a:p>
          <a:p>
            <a:pPr marL="0" indent="0">
              <a:buNone/>
            </a:pPr>
            <a:endParaRPr lang="en-US" dirty="0">
              <a:latin typeface="Roboto" panose="02000000000000000000" pitchFamily="2" charset="0"/>
              <a:ea typeface="Roboto" panose="02000000000000000000" pitchFamily="2" charset="0"/>
            </a:endParaRPr>
          </a:p>
          <a:p>
            <a:pPr marL="0" indent="0">
              <a:buNone/>
            </a:pPr>
            <a:r>
              <a:rPr lang="en-US" dirty="0">
                <a:latin typeface="Roboto" panose="02000000000000000000" pitchFamily="2" charset="0"/>
                <a:ea typeface="Roboto" panose="02000000000000000000" pitchFamily="2" charset="0"/>
              </a:rPr>
              <a:t>Having interpreted the data, the data analyst will then pass on their findings in the form of suggestions or recommendations about what the company’s next steps should be.</a:t>
            </a:r>
          </a:p>
        </p:txBody>
      </p:sp>
    </p:spTree>
    <p:extLst>
      <p:ext uri="{BB962C8B-B14F-4D97-AF65-F5344CB8AC3E}">
        <p14:creationId xmlns:p14="http://schemas.microsoft.com/office/powerpoint/2010/main" val="2366812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C30CF-1072-457C-AADF-F20C60F534A2}"/>
              </a:ext>
            </a:extLst>
          </p:cNvPr>
          <p:cNvSpPr>
            <a:spLocks noGrp="1"/>
          </p:cNvSpPr>
          <p:nvPr>
            <p:ph type="title"/>
          </p:nvPr>
        </p:nvSpPr>
        <p:spPr/>
        <p:txBody>
          <a:bodyPr>
            <a:normAutofit fontScale="90000"/>
          </a:bodyPr>
          <a:lstStyle/>
          <a:p>
            <a:br>
              <a:rPr lang="en-US" b="0" i="0" dirty="0">
                <a:solidFill>
                  <a:srgbClr val="272C37"/>
                </a:solidFill>
                <a:effectLst/>
                <a:latin typeface="Roboto" panose="02000000000000000000" pitchFamily="2" charset="0"/>
              </a:rPr>
            </a:br>
            <a:br>
              <a:rPr lang="en-US" b="0" i="0" dirty="0">
                <a:solidFill>
                  <a:srgbClr val="272C37"/>
                </a:solidFill>
                <a:effectLst/>
                <a:latin typeface="Roboto" panose="02000000000000000000" pitchFamily="2" charset="0"/>
              </a:rPr>
            </a:br>
            <a:r>
              <a:rPr lang="en-US" b="1" i="0" dirty="0">
                <a:effectLst/>
                <a:latin typeface="Roboto" panose="02000000000000000000" pitchFamily="2" charset="0"/>
              </a:rPr>
              <a:t>Ways to Use Data Analytics!!!</a:t>
            </a:r>
            <a:br>
              <a:rPr lang="en-US" b="1" i="0" dirty="0">
                <a:effectLst/>
                <a:latin typeface="Roboto" panose="02000000000000000000" pitchFamily="2" charset="0"/>
              </a:rPr>
            </a:br>
            <a:br>
              <a:rPr lang="en-US" dirty="0"/>
            </a:br>
            <a:endParaRPr lang="en-IN" dirty="0"/>
          </a:p>
        </p:txBody>
      </p:sp>
      <p:pic>
        <p:nvPicPr>
          <p:cNvPr id="1026" name="Picture 2" descr="ways">
            <a:extLst>
              <a:ext uri="{FF2B5EF4-FFF2-40B4-BE49-F238E27FC236}">
                <a16:creationId xmlns:a16="http://schemas.microsoft.com/office/drawing/2014/main" id="{46B5F9D6-760B-4BF7-A6D7-8AD0261E8D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873120"/>
            <a:ext cx="10483606" cy="31022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50664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AE7AF-6133-4EB1-AFC6-D068FF7D0E1D}"/>
              </a:ext>
            </a:extLst>
          </p:cNvPr>
          <p:cNvSpPr>
            <a:spLocks noGrp="1"/>
          </p:cNvSpPr>
          <p:nvPr>
            <p:ph type="title"/>
          </p:nvPr>
        </p:nvSpPr>
        <p:spPr/>
        <p:txBody>
          <a:bodyPr/>
          <a:lstStyle/>
          <a:p>
            <a:r>
              <a:rPr lang="en-IN" b="1" dirty="0">
                <a:latin typeface="Roboto" panose="02000000000000000000" pitchFamily="2" charset="0"/>
                <a:ea typeface="Roboto" panose="02000000000000000000" pitchFamily="2" charset="0"/>
              </a:rPr>
              <a:t>1. Improved Decision Making</a:t>
            </a:r>
          </a:p>
        </p:txBody>
      </p:sp>
      <p:sp>
        <p:nvSpPr>
          <p:cNvPr id="3" name="Content Placeholder 2">
            <a:extLst>
              <a:ext uri="{FF2B5EF4-FFF2-40B4-BE49-F238E27FC236}">
                <a16:creationId xmlns:a16="http://schemas.microsoft.com/office/drawing/2014/main" id="{DA58ABE4-4C40-43D7-B8B4-11B741991213}"/>
              </a:ext>
            </a:extLst>
          </p:cNvPr>
          <p:cNvSpPr>
            <a:spLocks noGrp="1"/>
          </p:cNvSpPr>
          <p:nvPr>
            <p:ph idx="1"/>
          </p:nvPr>
        </p:nvSpPr>
        <p:spPr/>
        <p:txBody>
          <a:bodyPr>
            <a:normAutofit fontScale="92500" lnSpcReduction="10000"/>
          </a:bodyPr>
          <a:lstStyle/>
          <a:p>
            <a:pPr marL="0" indent="0">
              <a:buNone/>
            </a:pPr>
            <a:r>
              <a:rPr lang="en-US" b="1" dirty="0">
                <a:latin typeface="Roboto" panose="02000000000000000000" pitchFamily="2" charset="0"/>
                <a:ea typeface="Roboto" panose="02000000000000000000" pitchFamily="2" charset="0"/>
              </a:rPr>
              <a:t>Data Analytics eliminates guesswork and manual tasks.  </a:t>
            </a:r>
          </a:p>
          <a:p>
            <a:pPr marL="0" indent="0">
              <a:buNone/>
            </a:pPr>
            <a:endParaRPr lang="en-US" dirty="0">
              <a:latin typeface="Roboto" panose="02000000000000000000" pitchFamily="2" charset="0"/>
              <a:ea typeface="Roboto" panose="02000000000000000000" pitchFamily="2" charset="0"/>
            </a:endParaRPr>
          </a:p>
          <a:p>
            <a:pPr marL="0" indent="0">
              <a:buNone/>
            </a:pPr>
            <a:r>
              <a:rPr lang="en-US" dirty="0">
                <a:latin typeface="Roboto" panose="02000000000000000000" pitchFamily="2" charset="0"/>
                <a:ea typeface="Roboto" panose="02000000000000000000" pitchFamily="2" charset="0"/>
              </a:rPr>
              <a:t>Be it choosing the </a:t>
            </a:r>
          </a:p>
          <a:p>
            <a:r>
              <a:rPr lang="en-US" dirty="0">
                <a:latin typeface="Roboto" panose="02000000000000000000" pitchFamily="2" charset="0"/>
                <a:ea typeface="Roboto" panose="02000000000000000000" pitchFamily="2" charset="0"/>
              </a:rPr>
              <a:t>right content, </a:t>
            </a:r>
          </a:p>
          <a:p>
            <a:r>
              <a:rPr lang="en-US" dirty="0">
                <a:latin typeface="Roboto" panose="02000000000000000000" pitchFamily="2" charset="0"/>
                <a:ea typeface="Roboto" panose="02000000000000000000" pitchFamily="2" charset="0"/>
              </a:rPr>
              <a:t>planning marketing campaigns, </a:t>
            </a:r>
          </a:p>
          <a:p>
            <a:r>
              <a:rPr lang="en-US" dirty="0">
                <a:latin typeface="Roboto" panose="02000000000000000000" pitchFamily="2" charset="0"/>
                <a:ea typeface="Roboto" panose="02000000000000000000" pitchFamily="2" charset="0"/>
              </a:rPr>
              <a:t>developing products. </a:t>
            </a:r>
          </a:p>
          <a:p>
            <a:pPr marL="0" indent="0">
              <a:buNone/>
            </a:pPr>
            <a:endParaRPr lang="en-US" dirty="0">
              <a:latin typeface="Roboto" panose="02000000000000000000" pitchFamily="2" charset="0"/>
              <a:ea typeface="Roboto" panose="02000000000000000000" pitchFamily="2" charset="0"/>
            </a:endParaRPr>
          </a:p>
          <a:p>
            <a:pPr marL="0" indent="0">
              <a:buNone/>
            </a:pPr>
            <a:r>
              <a:rPr lang="en-US" dirty="0">
                <a:latin typeface="Roboto" panose="02000000000000000000" pitchFamily="2" charset="0"/>
                <a:ea typeface="Roboto" panose="02000000000000000000" pitchFamily="2" charset="0"/>
              </a:rPr>
              <a:t>Organizations can use the insights they gain from data analytics to make informed decisions. Thus, leading to better outcomes and customer satisfaction.</a:t>
            </a:r>
            <a:endParaRPr lang="en-IN"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256234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BD1B4-4A38-47DA-A124-6E65E969A92F}"/>
              </a:ext>
            </a:extLst>
          </p:cNvPr>
          <p:cNvSpPr>
            <a:spLocks noGrp="1"/>
          </p:cNvSpPr>
          <p:nvPr>
            <p:ph type="title"/>
          </p:nvPr>
        </p:nvSpPr>
        <p:spPr/>
        <p:txBody>
          <a:bodyPr/>
          <a:lstStyle/>
          <a:p>
            <a:r>
              <a:rPr lang="en-IN" b="1" dirty="0">
                <a:latin typeface="Roboto" panose="02000000000000000000" pitchFamily="2" charset="0"/>
                <a:ea typeface="Roboto" panose="02000000000000000000" pitchFamily="2" charset="0"/>
              </a:rPr>
              <a:t>2. Better Customer Service</a:t>
            </a:r>
          </a:p>
        </p:txBody>
      </p:sp>
      <p:sp>
        <p:nvSpPr>
          <p:cNvPr id="3" name="Content Placeholder 2">
            <a:extLst>
              <a:ext uri="{FF2B5EF4-FFF2-40B4-BE49-F238E27FC236}">
                <a16:creationId xmlns:a16="http://schemas.microsoft.com/office/drawing/2014/main" id="{BCF3FB10-8BE8-4C03-B4D9-5F23A2E271BE}"/>
              </a:ext>
            </a:extLst>
          </p:cNvPr>
          <p:cNvSpPr>
            <a:spLocks noGrp="1"/>
          </p:cNvSpPr>
          <p:nvPr>
            <p:ph idx="1"/>
          </p:nvPr>
        </p:nvSpPr>
        <p:spPr/>
        <p:txBody>
          <a:bodyPr/>
          <a:lstStyle/>
          <a:p>
            <a:pPr marL="0" indent="0">
              <a:buNone/>
            </a:pPr>
            <a:r>
              <a:rPr lang="en-US" b="1" dirty="0">
                <a:latin typeface="Roboto" panose="02000000000000000000" pitchFamily="2" charset="0"/>
                <a:ea typeface="Roboto" panose="02000000000000000000" pitchFamily="2" charset="0"/>
              </a:rPr>
              <a:t>Data analytics allows you to:</a:t>
            </a:r>
          </a:p>
          <a:p>
            <a:pPr marL="0" indent="0">
              <a:buNone/>
            </a:pPr>
            <a:endParaRPr lang="en-US" dirty="0">
              <a:latin typeface="Roboto" panose="02000000000000000000" pitchFamily="2" charset="0"/>
              <a:ea typeface="Roboto" panose="02000000000000000000" pitchFamily="2" charset="0"/>
            </a:endParaRPr>
          </a:p>
          <a:p>
            <a:r>
              <a:rPr lang="en-US" dirty="0">
                <a:latin typeface="Roboto" panose="02000000000000000000" pitchFamily="2" charset="0"/>
                <a:ea typeface="Roboto" panose="02000000000000000000" pitchFamily="2" charset="0"/>
              </a:rPr>
              <a:t>Tailor customer service according to their needs</a:t>
            </a:r>
          </a:p>
          <a:p>
            <a:r>
              <a:rPr lang="en-US" dirty="0">
                <a:latin typeface="Roboto" panose="02000000000000000000" pitchFamily="2" charset="0"/>
                <a:ea typeface="Roboto" panose="02000000000000000000" pitchFamily="2" charset="0"/>
              </a:rPr>
              <a:t>Provides personalization and builds stronger relationships with customers</a:t>
            </a:r>
          </a:p>
          <a:p>
            <a:r>
              <a:rPr lang="en-US" dirty="0">
                <a:latin typeface="Roboto" panose="02000000000000000000" pitchFamily="2" charset="0"/>
                <a:ea typeface="Roboto" panose="02000000000000000000" pitchFamily="2" charset="0"/>
              </a:rPr>
              <a:t>Analyzed data can reveal information about customers’ interests, concerns, and more</a:t>
            </a:r>
          </a:p>
          <a:p>
            <a:r>
              <a:rPr lang="en-US" dirty="0">
                <a:latin typeface="Roboto" panose="02000000000000000000" pitchFamily="2" charset="0"/>
                <a:ea typeface="Roboto" panose="02000000000000000000" pitchFamily="2" charset="0"/>
              </a:rPr>
              <a:t>It helps you give better recommendations for products and services.</a:t>
            </a:r>
            <a:endParaRPr lang="en-IN"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639198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AABA7-B71D-4A5F-971D-EB519BBA946B}"/>
              </a:ext>
            </a:extLst>
          </p:cNvPr>
          <p:cNvSpPr>
            <a:spLocks noGrp="1"/>
          </p:cNvSpPr>
          <p:nvPr>
            <p:ph type="title"/>
          </p:nvPr>
        </p:nvSpPr>
        <p:spPr/>
        <p:txBody>
          <a:bodyPr/>
          <a:lstStyle/>
          <a:p>
            <a:r>
              <a:rPr lang="en-US" b="1" dirty="0">
                <a:latin typeface="Roboto" panose="02000000000000000000" pitchFamily="2" charset="0"/>
                <a:ea typeface="Roboto" panose="02000000000000000000" pitchFamily="2" charset="0"/>
              </a:rPr>
              <a:t>3. Efficient Operations</a:t>
            </a:r>
            <a:endParaRPr lang="en-IN" b="1" dirty="0"/>
          </a:p>
        </p:txBody>
      </p:sp>
      <p:sp>
        <p:nvSpPr>
          <p:cNvPr id="3" name="Content Placeholder 2">
            <a:extLst>
              <a:ext uri="{FF2B5EF4-FFF2-40B4-BE49-F238E27FC236}">
                <a16:creationId xmlns:a16="http://schemas.microsoft.com/office/drawing/2014/main" id="{AA64FA92-28C5-46B0-9F92-1D8ADB2EEE53}"/>
              </a:ext>
            </a:extLst>
          </p:cNvPr>
          <p:cNvSpPr>
            <a:spLocks noGrp="1"/>
          </p:cNvSpPr>
          <p:nvPr>
            <p:ph idx="1"/>
          </p:nvPr>
        </p:nvSpPr>
        <p:spPr/>
        <p:txBody>
          <a:bodyPr/>
          <a:lstStyle/>
          <a:p>
            <a:pPr marL="0" indent="0">
              <a:buNone/>
            </a:pPr>
            <a:r>
              <a:rPr lang="en-US" b="1" dirty="0">
                <a:latin typeface="Roboto" panose="02000000000000000000" pitchFamily="2" charset="0"/>
                <a:ea typeface="Roboto" panose="02000000000000000000" pitchFamily="2" charset="0"/>
              </a:rPr>
              <a:t>With the help of data analytics:</a:t>
            </a:r>
          </a:p>
          <a:p>
            <a:pPr marL="0" indent="0">
              <a:buNone/>
            </a:pPr>
            <a:endParaRPr lang="en-US" b="1" dirty="0">
              <a:latin typeface="Roboto" panose="02000000000000000000" pitchFamily="2" charset="0"/>
              <a:ea typeface="Roboto" panose="02000000000000000000" pitchFamily="2" charset="0"/>
            </a:endParaRPr>
          </a:p>
          <a:p>
            <a:r>
              <a:rPr lang="en-US" dirty="0">
                <a:latin typeface="Roboto" panose="02000000000000000000" pitchFamily="2" charset="0"/>
                <a:ea typeface="Roboto" panose="02000000000000000000" pitchFamily="2" charset="0"/>
              </a:rPr>
              <a:t>You can streamline your processes, </a:t>
            </a:r>
          </a:p>
          <a:p>
            <a:r>
              <a:rPr lang="en-US" dirty="0">
                <a:latin typeface="Roboto" panose="02000000000000000000" pitchFamily="2" charset="0"/>
                <a:ea typeface="Roboto" panose="02000000000000000000" pitchFamily="2" charset="0"/>
              </a:rPr>
              <a:t>Save money and boost production</a:t>
            </a:r>
          </a:p>
          <a:p>
            <a:r>
              <a:rPr lang="en-US" dirty="0">
                <a:latin typeface="Roboto" panose="02000000000000000000" pitchFamily="2" charset="0"/>
                <a:ea typeface="Roboto" panose="02000000000000000000" pitchFamily="2" charset="0"/>
              </a:rPr>
              <a:t>With an improved understanding of what your audience wants, you spend lesser time creating ads and content that aren’t in line with your audience’s interests</a:t>
            </a:r>
          </a:p>
          <a:p>
            <a:endParaRPr lang="en-US" dirty="0">
              <a:latin typeface="Roboto" panose="02000000000000000000" pitchFamily="2" charset="0"/>
              <a:ea typeface="Roboto" panose="02000000000000000000" pitchFamily="2" charset="0"/>
            </a:endParaRPr>
          </a:p>
          <a:p>
            <a:endParaRPr lang="en-IN" dirty="0"/>
          </a:p>
        </p:txBody>
      </p:sp>
    </p:spTree>
    <p:extLst>
      <p:ext uri="{BB962C8B-B14F-4D97-AF65-F5344CB8AC3E}">
        <p14:creationId xmlns:p14="http://schemas.microsoft.com/office/powerpoint/2010/main" val="33955971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A7E08-DBBA-4DDE-A80F-52A9552CA9F3}"/>
              </a:ext>
            </a:extLst>
          </p:cNvPr>
          <p:cNvSpPr>
            <a:spLocks noGrp="1"/>
          </p:cNvSpPr>
          <p:nvPr>
            <p:ph type="title"/>
          </p:nvPr>
        </p:nvSpPr>
        <p:spPr/>
        <p:txBody>
          <a:bodyPr/>
          <a:lstStyle/>
          <a:p>
            <a:r>
              <a:rPr lang="en-US" b="1" dirty="0">
                <a:latin typeface="Roboto" panose="02000000000000000000" pitchFamily="2" charset="0"/>
                <a:ea typeface="Roboto" panose="02000000000000000000" pitchFamily="2" charset="0"/>
              </a:rPr>
              <a:t>4. Effective Marketing</a:t>
            </a:r>
            <a:endParaRPr lang="en-IN" b="1" dirty="0"/>
          </a:p>
        </p:txBody>
      </p:sp>
      <p:sp>
        <p:nvSpPr>
          <p:cNvPr id="3" name="Content Placeholder 2">
            <a:extLst>
              <a:ext uri="{FF2B5EF4-FFF2-40B4-BE49-F238E27FC236}">
                <a16:creationId xmlns:a16="http://schemas.microsoft.com/office/drawing/2014/main" id="{A309AE67-075A-4FB9-8855-86563B17F79F}"/>
              </a:ext>
            </a:extLst>
          </p:cNvPr>
          <p:cNvSpPr>
            <a:spLocks noGrp="1"/>
          </p:cNvSpPr>
          <p:nvPr>
            <p:ph idx="1"/>
          </p:nvPr>
        </p:nvSpPr>
        <p:spPr/>
        <p:txBody>
          <a:bodyPr/>
          <a:lstStyle/>
          <a:p>
            <a:pPr marL="0" indent="0">
              <a:buNone/>
            </a:pPr>
            <a:r>
              <a:rPr lang="en-US" b="1" dirty="0">
                <a:latin typeface="Roboto" panose="02000000000000000000" pitchFamily="2" charset="0"/>
                <a:ea typeface="Roboto" panose="02000000000000000000" pitchFamily="2" charset="0"/>
              </a:rPr>
              <a:t>Data analytics gives you valuable insights into:</a:t>
            </a:r>
          </a:p>
          <a:p>
            <a:pPr marL="0" indent="0">
              <a:buNone/>
            </a:pPr>
            <a:endParaRPr lang="en-US" dirty="0">
              <a:latin typeface="Roboto" panose="02000000000000000000" pitchFamily="2" charset="0"/>
              <a:ea typeface="Roboto" panose="02000000000000000000" pitchFamily="2" charset="0"/>
            </a:endParaRPr>
          </a:p>
          <a:p>
            <a:r>
              <a:rPr lang="en-US" dirty="0">
                <a:latin typeface="Roboto" panose="02000000000000000000" pitchFamily="2" charset="0"/>
                <a:ea typeface="Roboto" panose="02000000000000000000" pitchFamily="2" charset="0"/>
              </a:rPr>
              <a:t>How your campaigns are performing </a:t>
            </a:r>
          </a:p>
          <a:p>
            <a:r>
              <a:rPr lang="en-US" dirty="0">
                <a:latin typeface="Roboto" panose="02000000000000000000" pitchFamily="2" charset="0"/>
                <a:ea typeface="Roboto" panose="02000000000000000000" pitchFamily="2" charset="0"/>
              </a:rPr>
              <a:t>This helps in fine-tuning them for optimal outcomes</a:t>
            </a:r>
          </a:p>
          <a:p>
            <a:r>
              <a:rPr lang="en-US" dirty="0">
                <a:latin typeface="Roboto" panose="02000000000000000000" pitchFamily="2" charset="0"/>
                <a:ea typeface="Roboto" panose="02000000000000000000" pitchFamily="2" charset="0"/>
              </a:rPr>
              <a:t>Additionally, you can also find potential customers who are most likely to interact with a campaign and convert into leads</a:t>
            </a:r>
          </a:p>
          <a:p>
            <a:endParaRPr lang="en-US" dirty="0">
              <a:latin typeface="Roboto" panose="02000000000000000000" pitchFamily="2" charset="0"/>
              <a:ea typeface="Roboto" panose="02000000000000000000" pitchFamily="2" charset="0"/>
            </a:endParaRPr>
          </a:p>
          <a:p>
            <a:endParaRPr lang="en-IN" dirty="0"/>
          </a:p>
        </p:txBody>
      </p:sp>
    </p:spTree>
    <p:extLst>
      <p:ext uri="{BB962C8B-B14F-4D97-AF65-F5344CB8AC3E}">
        <p14:creationId xmlns:p14="http://schemas.microsoft.com/office/powerpoint/2010/main" val="2591579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C5D39-0E33-4345-97B4-87A2466A7ADD}"/>
              </a:ext>
            </a:extLst>
          </p:cNvPr>
          <p:cNvSpPr>
            <a:spLocks noGrp="1"/>
          </p:cNvSpPr>
          <p:nvPr>
            <p:ph type="title"/>
          </p:nvPr>
        </p:nvSpPr>
        <p:spPr/>
        <p:txBody>
          <a:bodyPr>
            <a:normAutofit fontScale="90000"/>
          </a:bodyPr>
          <a:lstStyle/>
          <a:p>
            <a:br>
              <a:rPr lang="en-US" dirty="0"/>
            </a:br>
            <a:r>
              <a:rPr lang="en-US" b="1" dirty="0">
                <a:latin typeface="Roboto" panose="02000000000000000000" pitchFamily="2" charset="0"/>
                <a:ea typeface="Roboto" panose="02000000000000000000" pitchFamily="2" charset="0"/>
              </a:rPr>
              <a:t>What is Data Analytics used for?</a:t>
            </a:r>
            <a:br>
              <a:rPr lang="en-US" b="1" dirty="0">
                <a:latin typeface="Roboto" panose="02000000000000000000" pitchFamily="2" charset="0"/>
                <a:ea typeface="Roboto" panose="02000000000000000000" pitchFamily="2" charset="0"/>
              </a:rPr>
            </a:br>
            <a:endParaRPr lang="en-IN" b="1" dirty="0">
              <a:latin typeface="Roboto" panose="02000000000000000000" pitchFamily="2" charset="0"/>
              <a:ea typeface="Roboto" panose="02000000000000000000" pitchFamily="2" charset="0"/>
            </a:endParaRPr>
          </a:p>
        </p:txBody>
      </p:sp>
      <p:sp>
        <p:nvSpPr>
          <p:cNvPr id="3" name="Content Placeholder 2">
            <a:extLst>
              <a:ext uri="{FF2B5EF4-FFF2-40B4-BE49-F238E27FC236}">
                <a16:creationId xmlns:a16="http://schemas.microsoft.com/office/drawing/2014/main" id="{A425B377-2935-49F5-AD84-FF1AA0D100E0}"/>
              </a:ext>
            </a:extLst>
          </p:cNvPr>
          <p:cNvSpPr>
            <a:spLocks noGrp="1"/>
          </p:cNvSpPr>
          <p:nvPr>
            <p:ph idx="1"/>
          </p:nvPr>
        </p:nvSpPr>
        <p:spPr/>
        <p:txBody>
          <a:bodyPr/>
          <a:lstStyle/>
          <a:p>
            <a:pPr marL="0" indent="0">
              <a:lnSpc>
                <a:spcPct val="100000"/>
              </a:lnSpc>
              <a:buNone/>
            </a:pPr>
            <a:r>
              <a:rPr lang="en-US" dirty="0">
                <a:latin typeface="Roboto" panose="02000000000000000000" pitchFamily="2" charset="0"/>
                <a:ea typeface="Roboto" panose="02000000000000000000" pitchFamily="2" charset="0"/>
              </a:rPr>
              <a:t>The truth is, data is absolutely everywhere—which means that data analytics has almost infinite uses across all kinds of businesses and organizations. Broadly speaking, data analytics is used to make faster and more informed decisions, to reduce overall business costs, to develop more effective products and services, and to optimize processes and operations. In more specific terms, data analytics might be used for the above mentioned tasks.</a:t>
            </a:r>
            <a:endParaRPr lang="en-IN"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599491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2786A7-5847-4394-ADDE-4480A6078ACB}"/>
              </a:ext>
            </a:extLst>
          </p:cNvPr>
          <p:cNvSpPr>
            <a:spLocks noGrp="1"/>
          </p:cNvSpPr>
          <p:nvPr>
            <p:ph idx="1"/>
          </p:nvPr>
        </p:nvSpPr>
        <p:spPr>
          <a:xfrm>
            <a:off x="838200" y="878541"/>
            <a:ext cx="10515600" cy="5298422"/>
          </a:xfrm>
        </p:spPr>
        <p:txBody>
          <a:bodyPr>
            <a:normAutofit fontScale="92500" lnSpcReduction="20000"/>
          </a:bodyPr>
          <a:lstStyle/>
          <a:p>
            <a:r>
              <a:rPr lang="en-US" dirty="0">
                <a:latin typeface="Roboto" panose="02000000000000000000" pitchFamily="2" charset="0"/>
                <a:ea typeface="Roboto" panose="02000000000000000000" pitchFamily="2" charset="0"/>
              </a:rPr>
              <a:t>To predict future sales and purchasing behaviors</a:t>
            </a:r>
          </a:p>
          <a:p>
            <a:r>
              <a:rPr lang="en-US" dirty="0">
                <a:latin typeface="Roboto" panose="02000000000000000000" pitchFamily="2" charset="0"/>
                <a:ea typeface="Roboto" panose="02000000000000000000" pitchFamily="2" charset="0"/>
              </a:rPr>
              <a:t>For security purposes—for example, to detect, predict, and prevent fraud within the insurance and banking industries</a:t>
            </a:r>
          </a:p>
          <a:p>
            <a:r>
              <a:rPr lang="en-US" dirty="0">
                <a:latin typeface="Roboto" panose="02000000000000000000" pitchFamily="2" charset="0"/>
                <a:ea typeface="Roboto" panose="02000000000000000000" pitchFamily="2" charset="0"/>
              </a:rPr>
              <a:t>To evaluate the effectiveness of marketing and advertising campaigns</a:t>
            </a:r>
          </a:p>
          <a:p>
            <a:r>
              <a:rPr lang="en-US" dirty="0">
                <a:latin typeface="Roboto" panose="02000000000000000000" pitchFamily="2" charset="0"/>
                <a:ea typeface="Roboto" panose="02000000000000000000" pitchFamily="2" charset="0"/>
              </a:rPr>
              <a:t>To optimize marketing efforts through more accurate targeting and personalization</a:t>
            </a:r>
          </a:p>
          <a:p>
            <a:r>
              <a:rPr lang="en-US" dirty="0">
                <a:latin typeface="Roboto" panose="02000000000000000000" pitchFamily="2" charset="0"/>
                <a:ea typeface="Roboto" panose="02000000000000000000" pitchFamily="2" charset="0"/>
              </a:rPr>
              <a:t>To identify and eliminate bottlenecks within a certain process</a:t>
            </a:r>
          </a:p>
          <a:p>
            <a:r>
              <a:rPr lang="en-US" dirty="0">
                <a:latin typeface="Roboto" panose="02000000000000000000" pitchFamily="2" charset="0"/>
                <a:ea typeface="Roboto" panose="02000000000000000000" pitchFamily="2" charset="0"/>
              </a:rPr>
              <a:t>To boost customer acquisition and retention</a:t>
            </a:r>
          </a:p>
          <a:p>
            <a:r>
              <a:rPr lang="en-US" dirty="0">
                <a:latin typeface="Roboto" panose="02000000000000000000" pitchFamily="2" charset="0"/>
                <a:ea typeface="Roboto" panose="02000000000000000000" pitchFamily="2" charset="0"/>
              </a:rPr>
              <a:t>To boost customer engagement on social media</a:t>
            </a:r>
          </a:p>
          <a:p>
            <a:r>
              <a:rPr lang="en-US" dirty="0">
                <a:latin typeface="Roboto" panose="02000000000000000000" pitchFamily="2" charset="0"/>
                <a:ea typeface="Roboto" panose="02000000000000000000" pitchFamily="2" charset="0"/>
              </a:rPr>
              <a:t>To develop risk management solutions</a:t>
            </a:r>
          </a:p>
          <a:p>
            <a:r>
              <a:rPr lang="en-US" dirty="0">
                <a:latin typeface="Roboto" panose="02000000000000000000" pitchFamily="2" charset="0"/>
                <a:ea typeface="Roboto" panose="02000000000000000000" pitchFamily="2" charset="0"/>
              </a:rPr>
              <a:t>To identify opportunities for innovation and create new revenue streams</a:t>
            </a:r>
          </a:p>
          <a:p>
            <a:r>
              <a:rPr lang="en-US" dirty="0">
                <a:latin typeface="Roboto" panose="02000000000000000000" pitchFamily="2" charset="0"/>
                <a:ea typeface="Roboto" panose="02000000000000000000" pitchFamily="2" charset="0"/>
              </a:rPr>
              <a:t>To increase supply chain efficiency</a:t>
            </a:r>
          </a:p>
          <a:p>
            <a:endParaRPr lang="en-IN"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1045432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FF74B-488D-49AC-83E0-57ACE3E10049}"/>
              </a:ext>
            </a:extLst>
          </p:cNvPr>
          <p:cNvSpPr>
            <a:spLocks noGrp="1"/>
          </p:cNvSpPr>
          <p:nvPr>
            <p:ph type="title"/>
          </p:nvPr>
        </p:nvSpPr>
        <p:spPr/>
        <p:txBody>
          <a:bodyPr/>
          <a:lstStyle/>
          <a:p>
            <a:r>
              <a:rPr lang="en-US" b="1">
                <a:latin typeface="Roboto" panose="02000000000000000000" pitchFamily="2" charset="0"/>
                <a:ea typeface="Roboto" panose="02000000000000000000" pitchFamily="2" charset="0"/>
              </a:rPr>
              <a:t>Data Analytics </a:t>
            </a:r>
            <a:r>
              <a:rPr lang="en-US" b="1" dirty="0">
                <a:latin typeface="Roboto" panose="02000000000000000000" pitchFamily="2" charset="0"/>
                <a:ea typeface="Roboto" panose="02000000000000000000" pitchFamily="2" charset="0"/>
              </a:rPr>
              <a:t>Vs Data Science!!!</a:t>
            </a:r>
            <a:endParaRPr lang="en-IN" b="1" dirty="0">
              <a:latin typeface="Roboto" panose="02000000000000000000" pitchFamily="2" charset="0"/>
              <a:ea typeface="Roboto" panose="02000000000000000000" pitchFamily="2" charset="0"/>
            </a:endParaRPr>
          </a:p>
        </p:txBody>
      </p:sp>
      <p:sp>
        <p:nvSpPr>
          <p:cNvPr id="3" name="Content Placeholder 2">
            <a:extLst>
              <a:ext uri="{FF2B5EF4-FFF2-40B4-BE49-F238E27FC236}">
                <a16:creationId xmlns:a16="http://schemas.microsoft.com/office/drawing/2014/main" id="{218AC990-5F2C-4A43-90CE-3728985A510C}"/>
              </a:ext>
            </a:extLst>
          </p:cNvPr>
          <p:cNvSpPr>
            <a:spLocks noGrp="1"/>
          </p:cNvSpPr>
          <p:nvPr>
            <p:ph idx="1"/>
          </p:nvPr>
        </p:nvSpPr>
        <p:spPr/>
        <p:txBody>
          <a:bodyPr/>
          <a:lstStyle/>
          <a:p>
            <a:r>
              <a:rPr lang="en-US" dirty="0">
                <a:latin typeface="Roboto" panose="02000000000000000000" pitchFamily="2" charset="0"/>
                <a:ea typeface="Roboto" panose="02000000000000000000" pitchFamily="2" charset="0"/>
              </a:rPr>
              <a:t>You’ll find that the terms “data science” and “data analytics” tend to be used interchangeably. However, they are two different fields and denote two distinct career paths. What’s more, they each have a very different impact on the business or organization.</a:t>
            </a:r>
          </a:p>
          <a:p>
            <a:endParaRPr lang="en-US" dirty="0">
              <a:latin typeface="Roboto" panose="02000000000000000000" pitchFamily="2" charset="0"/>
              <a:ea typeface="Roboto" panose="02000000000000000000" pitchFamily="2" charset="0"/>
            </a:endParaRPr>
          </a:p>
          <a:p>
            <a:r>
              <a:rPr lang="en-US" b="1" i="1" dirty="0">
                <a:latin typeface="Roboto" panose="02000000000000000000" pitchFamily="2" charset="0"/>
                <a:ea typeface="Roboto" panose="02000000000000000000" pitchFamily="2" charset="0"/>
              </a:rPr>
              <a:t>One key difference between data scientists and data analysts lies in what they do with the data and the outcomes they achieve.</a:t>
            </a:r>
            <a:endParaRPr lang="en-IN" b="1" i="1"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8536837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6A4D4-6BC9-4EDA-883D-D697B1C1469F}"/>
              </a:ext>
            </a:extLst>
          </p:cNvPr>
          <p:cNvSpPr>
            <a:spLocks noGrp="1"/>
          </p:cNvSpPr>
          <p:nvPr>
            <p:ph type="title"/>
          </p:nvPr>
        </p:nvSpPr>
        <p:spPr/>
        <p:txBody>
          <a:bodyPr/>
          <a:lstStyle/>
          <a:p>
            <a:r>
              <a:rPr lang="en-US" b="1" dirty="0">
                <a:latin typeface="Roboto" panose="02000000000000000000" pitchFamily="2" charset="0"/>
                <a:ea typeface="Roboto" panose="02000000000000000000" pitchFamily="2" charset="0"/>
              </a:rPr>
              <a:t>Data Analyst!!!</a:t>
            </a:r>
            <a:endParaRPr lang="en-IN" b="1" dirty="0">
              <a:latin typeface="Roboto" panose="02000000000000000000" pitchFamily="2" charset="0"/>
              <a:ea typeface="Roboto" panose="02000000000000000000" pitchFamily="2" charset="0"/>
            </a:endParaRPr>
          </a:p>
        </p:txBody>
      </p:sp>
      <p:sp>
        <p:nvSpPr>
          <p:cNvPr id="3" name="Content Placeholder 2">
            <a:extLst>
              <a:ext uri="{FF2B5EF4-FFF2-40B4-BE49-F238E27FC236}">
                <a16:creationId xmlns:a16="http://schemas.microsoft.com/office/drawing/2014/main" id="{112D514C-FD5F-46BF-A325-7BCA4E566585}"/>
              </a:ext>
            </a:extLst>
          </p:cNvPr>
          <p:cNvSpPr>
            <a:spLocks noGrp="1"/>
          </p:cNvSpPr>
          <p:nvPr>
            <p:ph idx="1"/>
          </p:nvPr>
        </p:nvSpPr>
        <p:spPr/>
        <p:txBody>
          <a:bodyPr/>
          <a:lstStyle/>
          <a:p>
            <a:pPr marL="0" indent="0">
              <a:lnSpc>
                <a:spcPct val="100000"/>
              </a:lnSpc>
              <a:buNone/>
            </a:pPr>
            <a:r>
              <a:rPr lang="en-US" dirty="0">
                <a:latin typeface="Roboto" panose="02000000000000000000" pitchFamily="2" charset="0"/>
                <a:ea typeface="Roboto" panose="02000000000000000000" pitchFamily="2" charset="0"/>
              </a:rPr>
              <a:t>A data analyst will seek to answer specific questions or address particular challenges that have already been identified and are known to the business. </a:t>
            </a:r>
          </a:p>
          <a:p>
            <a:pPr marL="0" indent="0">
              <a:lnSpc>
                <a:spcPct val="100000"/>
              </a:lnSpc>
              <a:buNone/>
            </a:pPr>
            <a:endParaRPr lang="en-US" dirty="0">
              <a:latin typeface="Roboto" panose="02000000000000000000" pitchFamily="2" charset="0"/>
              <a:ea typeface="Roboto" panose="02000000000000000000" pitchFamily="2" charset="0"/>
            </a:endParaRPr>
          </a:p>
          <a:p>
            <a:pPr marL="0" indent="0">
              <a:lnSpc>
                <a:spcPct val="100000"/>
              </a:lnSpc>
              <a:buNone/>
            </a:pPr>
            <a:r>
              <a:rPr lang="en-US" dirty="0">
                <a:latin typeface="Roboto" panose="02000000000000000000" pitchFamily="2" charset="0"/>
                <a:ea typeface="Roboto" panose="02000000000000000000" pitchFamily="2" charset="0"/>
              </a:rPr>
              <a:t>To do this, they examine large datasets with the goal of identifying trends and patterns. They then “visualize” their findings in the form of charts, graphs, and dashboards. These visualizations are shared with key stakeholders and used to make informed, data-driven strategic decisions.</a:t>
            </a:r>
            <a:endParaRPr lang="en-IN"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41853332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F8386-FA07-40B5-BF40-B348E9188FB1}"/>
              </a:ext>
            </a:extLst>
          </p:cNvPr>
          <p:cNvSpPr>
            <a:spLocks noGrp="1"/>
          </p:cNvSpPr>
          <p:nvPr>
            <p:ph type="title"/>
          </p:nvPr>
        </p:nvSpPr>
        <p:spPr/>
        <p:txBody>
          <a:bodyPr/>
          <a:lstStyle/>
          <a:p>
            <a:r>
              <a:rPr lang="en-US" b="1" dirty="0">
                <a:latin typeface="Roboto" panose="02000000000000000000" pitchFamily="2" charset="0"/>
                <a:ea typeface="Roboto" panose="02000000000000000000" pitchFamily="2" charset="0"/>
              </a:rPr>
              <a:t>Data Scientist!!!</a:t>
            </a:r>
            <a:endParaRPr lang="en-IN" b="1" dirty="0">
              <a:latin typeface="Roboto" panose="02000000000000000000" pitchFamily="2" charset="0"/>
              <a:ea typeface="Roboto" panose="02000000000000000000" pitchFamily="2" charset="0"/>
            </a:endParaRPr>
          </a:p>
        </p:txBody>
      </p:sp>
      <p:sp>
        <p:nvSpPr>
          <p:cNvPr id="3" name="Content Placeholder 2">
            <a:extLst>
              <a:ext uri="{FF2B5EF4-FFF2-40B4-BE49-F238E27FC236}">
                <a16:creationId xmlns:a16="http://schemas.microsoft.com/office/drawing/2014/main" id="{F4652042-48D9-49A4-A90D-5EEE4BD1D70E}"/>
              </a:ext>
            </a:extLst>
          </p:cNvPr>
          <p:cNvSpPr>
            <a:spLocks noGrp="1"/>
          </p:cNvSpPr>
          <p:nvPr>
            <p:ph idx="1"/>
          </p:nvPr>
        </p:nvSpPr>
        <p:spPr>
          <a:xfrm>
            <a:off x="838200" y="1825624"/>
            <a:ext cx="10515600" cy="4853081"/>
          </a:xfrm>
        </p:spPr>
        <p:txBody>
          <a:bodyPr>
            <a:normAutofit fontScale="70000" lnSpcReduction="20000"/>
          </a:bodyPr>
          <a:lstStyle/>
          <a:p>
            <a:pPr marL="0" indent="0">
              <a:lnSpc>
                <a:spcPct val="110000"/>
              </a:lnSpc>
              <a:buNone/>
            </a:pPr>
            <a:r>
              <a:rPr lang="en-US" dirty="0">
                <a:latin typeface="Roboto" panose="02000000000000000000" pitchFamily="2" charset="0"/>
                <a:ea typeface="Roboto" panose="02000000000000000000" pitchFamily="2" charset="0"/>
              </a:rPr>
              <a:t>A data scientist, on the other hand, considers what questions the business should or could be asking. </a:t>
            </a:r>
          </a:p>
          <a:p>
            <a:pPr marL="0" indent="0">
              <a:lnSpc>
                <a:spcPct val="110000"/>
              </a:lnSpc>
              <a:buNone/>
            </a:pPr>
            <a:endParaRPr lang="en-US" dirty="0">
              <a:latin typeface="Roboto" panose="02000000000000000000" pitchFamily="2" charset="0"/>
              <a:ea typeface="Roboto" panose="02000000000000000000" pitchFamily="2" charset="0"/>
            </a:endParaRPr>
          </a:p>
          <a:p>
            <a:pPr marL="0" indent="0">
              <a:lnSpc>
                <a:spcPct val="110000"/>
              </a:lnSpc>
              <a:buNone/>
            </a:pPr>
            <a:r>
              <a:rPr lang="en-US" dirty="0">
                <a:latin typeface="Roboto" panose="02000000000000000000" pitchFamily="2" charset="0"/>
                <a:ea typeface="Roboto" panose="02000000000000000000" pitchFamily="2" charset="0"/>
              </a:rPr>
              <a:t>They design new processes for data modeling, write algorithms, devise predictive models, and run custom analyses. </a:t>
            </a:r>
          </a:p>
          <a:p>
            <a:pPr marL="0" indent="0">
              <a:lnSpc>
                <a:spcPct val="110000"/>
              </a:lnSpc>
              <a:buNone/>
            </a:pPr>
            <a:endParaRPr lang="en-US" dirty="0">
              <a:latin typeface="Roboto" panose="02000000000000000000" pitchFamily="2" charset="0"/>
              <a:ea typeface="Roboto" panose="02000000000000000000" pitchFamily="2" charset="0"/>
            </a:endParaRPr>
          </a:p>
          <a:p>
            <a:pPr marL="0" indent="0">
              <a:lnSpc>
                <a:spcPct val="110000"/>
              </a:lnSpc>
              <a:buNone/>
            </a:pPr>
            <a:r>
              <a:rPr lang="en-US" dirty="0">
                <a:latin typeface="Roboto" panose="02000000000000000000" pitchFamily="2" charset="0"/>
                <a:ea typeface="Roboto" panose="02000000000000000000" pitchFamily="2" charset="0"/>
              </a:rPr>
              <a:t>For example: They might build a machine to leverage a dataset and automate certain actions based on that data—and, with continuous monitoring and testing, and as new patterns and trends emerge, improve and optimize that machine wherever possible. </a:t>
            </a:r>
          </a:p>
          <a:p>
            <a:pPr marL="0" indent="0">
              <a:lnSpc>
                <a:spcPct val="110000"/>
              </a:lnSpc>
              <a:buNone/>
            </a:pPr>
            <a:endParaRPr lang="en-US" dirty="0">
              <a:latin typeface="Roboto" panose="02000000000000000000" pitchFamily="2" charset="0"/>
              <a:ea typeface="Roboto" panose="02000000000000000000" pitchFamily="2" charset="0"/>
            </a:endParaRPr>
          </a:p>
          <a:p>
            <a:pPr marL="0" indent="0">
              <a:lnSpc>
                <a:spcPct val="110000"/>
              </a:lnSpc>
              <a:buNone/>
            </a:pPr>
            <a:r>
              <a:rPr lang="en-US" dirty="0">
                <a:latin typeface="Roboto" panose="02000000000000000000" pitchFamily="2" charset="0"/>
                <a:ea typeface="Roboto" panose="02000000000000000000" pitchFamily="2" charset="0"/>
              </a:rPr>
              <a:t>In short: data analysts tackle and solve discrete questions about data, often on request, revealing insights that can be acted upon by other stakeholders, while data scientists build systems to automate and optimize the overall functioning of the business.</a:t>
            </a:r>
            <a:endParaRPr lang="en-IN"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0781255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A216A-3EF0-4FE3-ACA6-8396FB78C04C}"/>
              </a:ext>
            </a:extLst>
          </p:cNvPr>
          <p:cNvSpPr>
            <a:spLocks noGrp="1"/>
          </p:cNvSpPr>
          <p:nvPr>
            <p:ph type="title"/>
          </p:nvPr>
        </p:nvSpPr>
        <p:spPr>
          <a:xfrm>
            <a:off x="838200" y="338231"/>
            <a:ext cx="10515600" cy="1325563"/>
          </a:xfrm>
        </p:spPr>
        <p:txBody>
          <a:bodyPr/>
          <a:lstStyle/>
          <a:p>
            <a:r>
              <a:rPr lang="en-US" b="1" dirty="0">
                <a:latin typeface="Roboto" panose="02000000000000000000" pitchFamily="2" charset="0"/>
                <a:ea typeface="Roboto" panose="02000000000000000000" pitchFamily="2" charset="0"/>
              </a:rPr>
              <a:t>Data Analyst!!!</a:t>
            </a:r>
            <a:endParaRPr lang="en-IN" b="1" dirty="0">
              <a:latin typeface="Roboto" panose="02000000000000000000" pitchFamily="2" charset="0"/>
              <a:ea typeface="Roboto" panose="02000000000000000000" pitchFamily="2" charset="0"/>
            </a:endParaRPr>
          </a:p>
        </p:txBody>
      </p:sp>
      <p:sp>
        <p:nvSpPr>
          <p:cNvPr id="3" name="Content Placeholder 2">
            <a:extLst>
              <a:ext uri="{FF2B5EF4-FFF2-40B4-BE49-F238E27FC236}">
                <a16:creationId xmlns:a16="http://schemas.microsoft.com/office/drawing/2014/main" id="{8F6B9B78-B060-46FF-A542-48FA948DC1ED}"/>
              </a:ext>
            </a:extLst>
          </p:cNvPr>
          <p:cNvSpPr>
            <a:spLocks noGrp="1"/>
          </p:cNvSpPr>
          <p:nvPr>
            <p:ph idx="1"/>
          </p:nvPr>
        </p:nvSpPr>
        <p:spPr/>
        <p:txBody>
          <a:bodyPr/>
          <a:lstStyle/>
          <a:p>
            <a:pPr marL="0" indent="0">
              <a:buNone/>
            </a:pPr>
            <a:r>
              <a:rPr lang="en-US" dirty="0">
                <a:latin typeface="Roboto" panose="02000000000000000000" pitchFamily="2" charset="0"/>
                <a:ea typeface="Roboto" panose="02000000000000000000" pitchFamily="2" charset="0"/>
              </a:rPr>
              <a:t>Data analysts are typically expected to be proficient in software like Excel and, in some cases, querying and programming languages like SQL, R, SAS, and Python. </a:t>
            </a:r>
          </a:p>
          <a:p>
            <a:pPr marL="0" indent="0">
              <a:buNone/>
            </a:pPr>
            <a:endParaRPr lang="en-US" dirty="0">
              <a:latin typeface="Roboto" panose="02000000000000000000" pitchFamily="2" charset="0"/>
              <a:ea typeface="Roboto" panose="02000000000000000000" pitchFamily="2" charset="0"/>
            </a:endParaRPr>
          </a:p>
          <a:p>
            <a:pPr marL="0" indent="0">
              <a:buNone/>
            </a:pPr>
            <a:r>
              <a:rPr lang="en-US" dirty="0">
                <a:latin typeface="Roboto" panose="02000000000000000000" pitchFamily="2" charset="0"/>
                <a:ea typeface="Roboto" panose="02000000000000000000" pitchFamily="2" charset="0"/>
              </a:rPr>
              <a:t>Analysts need to be comfortable using such tools and languages to carry out data mining, statistical analysis, database management and reporting. </a:t>
            </a:r>
            <a:endParaRPr lang="en-IN"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7936967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3C045-ADF8-4400-86D5-4207A894E79E}"/>
              </a:ext>
            </a:extLst>
          </p:cNvPr>
          <p:cNvSpPr>
            <a:spLocks noGrp="1"/>
          </p:cNvSpPr>
          <p:nvPr>
            <p:ph type="title"/>
          </p:nvPr>
        </p:nvSpPr>
        <p:spPr/>
        <p:txBody>
          <a:bodyPr/>
          <a:lstStyle/>
          <a:p>
            <a:r>
              <a:rPr lang="en-US" b="1" dirty="0">
                <a:latin typeface="Roboto" panose="02000000000000000000" pitchFamily="2" charset="0"/>
                <a:ea typeface="Roboto" panose="02000000000000000000" pitchFamily="2" charset="0"/>
              </a:rPr>
              <a:t>Data Scientist!!!</a:t>
            </a:r>
            <a:endParaRPr lang="en-IN" b="1" dirty="0">
              <a:latin typeface="Roboto" panose="02000000000000000000" pitchFamily="2" charset="0"/>
              <a:ea typeface="Roboto" panose="02000000000000000000" pitchFamily="2" charset="0"/>
            </a:endParaRPr>
          </a:p>
        </p:txBody>
      </p:sp>
      <p:sp>
        <p:nvSpPr>
          <p:cNvPr id="3" name="Content Placeholder 2">
            <a:extLst>
              <a:ext uri="{FF2B5EF4-FFF2-40B4-BE49-F238E27FC236}">
                <a16:creationId xmlns:a16="http://schemas.microsoft.com/office/drawing/2014/main" id="{665A3574-BD9F-4758-B48F-E284B5184CB7}"/>
              </a:ext>
            </a:extLst>
          </p:cNvPr>
          <p:cNvSpPr>
            <a:spLocks noGrp="1"/>
          </p:cNvSpPr>
          <p:nvPr>
            <p:ph idx="1"/>
          </p:nvPr>
        </p:nvSpPr>
        <p:spPr/>
        <p:txBody>
          <a:bodyPr/>
          <a:lstStyle/>
          <a:p>
            <a:pPr marL="0" indent="0">
              <a:buNone/>
            </a:pPr>
            <a:r>
              <a:rPr lang="en-US" dirty="0">
                <a:latin typeface="Roboto" panose="02000000000000000000" pitchFamily="2" charset="0"/>
                <a:ea typeface="Roboto" panose="02000000000000000000" pitchFamily="2" charset="0"/>
              </a:rPr>
              <a:t>Data scientists, on the other hand, might be expected to be proficient in Hadoop, Java, Python, Machine Learning, Data Mining, and Data Analysis.</a:t>
            </a:r>
            <a:endParaRPr lang="en-IN" dirty="0">
              <a:latin typeface="Roboto" panose="02000000000000000000" pitchFamily="2" charset="0"/>
              <a:ea typeface="Roboto" panose="02000000000000000000" pitchFamily="2" charset="0"/>
            </a:endParaRPr>
          </a:p>
          <a:p>
            <a:endParaRPr lang="en-IN" dirty="0"/>
          </a:p>
        </p:txBody>
      </p:sp>
    </p:spTree>
    <p:extLst>
      <p:ext uri="{BB962C8B-B14F-4D97-AF65-F5344CB8AC3E}">
        <p14:creationId xmlns:p14="http://schemas.microsoft.com/office/powerpoint/2010/main" val="29770339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373CC-240F-4F6E-BE4B-840564352382}"/>
              </a:ext>
            </a:extLst>
          </p:cNvPr>
          <p:cNvSpPr>
            <a:spLocks noGrp="1"/>
          </p:cNvSpPr>
          <p:nvPr>
            <p:ph type="title"/>
          </p:nvPr>
        </p:nvSpPr>
        <p:spPr/>
        <p:txBody>
          <a:bodyPr>
            <a:normAutofit fontScale="90000"/>
          </a:bodyPr>
          <a:lstStyle/>
          <a:p>
            <a:br>
              <a:rPr lang="en-US" dirty="0"/>
            </a:br>
            <a:r>
              <a:rPr lang="en-US" sz="4900" b="1" dirty="0">
                <a:latin typeface="Roboto" panose="02000000000000000000" pitchFamily="2" charset="0"/>
                <a:ea typeface="Roboto" panose="02000000000000000000" pitchFamily="2" charset="0"/>
              </a:rPr>
              <a:t>What does a data analyst do?</a:t>
            </a:r>
            <a:br>
              <a:rPr lang="en-US" sz="4900" b="1" dirty="0">
                <a:latin typeface="Roboto" panose="02000000000000000000" pitchFamily="2" charset="0"/>
                <a:ea typeface="Roboto" panose="02000000000000000000" pitchFamily="2" charset="0"/>
              </a:rPr>
            </a:br>
            <a:endParaRPr lang="en-IN" b="1" dirty="0">
              <a:latin typeface="Roboto" panose="02000000000000000000" pitchFamily="2" charset="0"/>
              <a:ea typeface="Roboto" panose="02000000000000000000" pitchFamily="2" charset="0"/>
            </a:endParaRPr>
          </a:p>
        </p:txBody>
      </p:sp>
      <p:sp>
        <p:nvSpPr>
          <p:cNvPr id="3" name="Content Placeholder 2">
            <a:extLst>
              <a:ext uri="{FF2B5EF4-FFF2-40B4-BE49-F238E27FC236}">
                <a16:creationId xmlns:a16="http://schemas.microsoft.com/office/drawing/2014/main" id="{A65083DF-68D2-445D-B4B0-9A2C28B36BB8}"/>
              </a:ext>
            </a:extLst>
          </p:cNvPr>
          <p:cNvSpPr>
            <a:spLocks noGrp="1"/>
          </p:cNvSpPr>
          <p:nvPr>
            <p:ph idx="1"/>
          </p:nvPr>
        </p:nvSpPr>
        <p:spPr/>
        <p:txBody>
          <a:bodyPr/>
          <a:lstStyle/>
          <a:p>
            <a:pPr marL="0" indent="0">
              <a:buNone/>
            </a:pPr>
            <a:r>
              <a:rPr lang="en-US" i="1" dirty="0">
                <a:latin typeface="Roboto" panose="02000000000000000000" pitchFamily="2" charset="0"/>
                <a:ea typeface="Roboto" panose="02000000000000000000" pitchFamily="2" charset="0"/>
              </a:rPr>
              <a:t>“I like to think of a data analyst as a ‘translator’. It’s someone who is capable of translating numbers into plain English in order for a company to improve their business. Personally, my role as a data analyst involves collecting, processing, and performing statistical data analysis to help my company improve their product.” </a:t>
            </a:r>
            <a:endParaRPr lang="en-IN" i="1"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2404669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09907-A5C7-4DFC-96BE-B0F61CD93DF4}"/>
              </a:ext>
            </a:extLst>
          </p:cNvPr>
          <p:cNvSpPr>
            <a:spLocks noGrp="1"/>
          </p:cNvSpPr>
          <p:nvPr>
            <p:ph type="title"/>
          </p:nvPr>
        </p:nvSpPr>
        <p:spPr>
          <a:xfrm>
            <a:off x="838200" y="338231"/>
            <a:ext cx="10515600" cy="1325563"/>
          </a:xfrm>
        </p:spPr>
        <p:txBody>
          <a:bodyPr>
            <a:noAutofit/>
          </a:bodyPr>
          <a:lstStyle/>
          <a:p>
            <a:br>
              <a:rPr lang="en-US" sz="3200" b="1" dirty="0">
                <a:latin typeface="Roboto" panose="02000000000000000000" pitchFamily="2" charset="0"/>
                <a:ea typeface="Roboto" panose="02000000000000000000" pitchFamily="2" charset="0"/>
              </a:rPr>
            </a:br>
            <a:r>
              <a:rPr lang="en-US" sz="3200" b="1" dirty="0">
                <a:latin typeface="Roboto" panose="02000000000000000000" pitchFamily="2" charset="0"/>
                <a:ea typeface="Roboto" panose="02000000000000000000" pitchFamily="2" charset="0"/>
              </a:rPr>
              <a:t>Based on real job ads, here are some of the typical tasks and responsibilities of a data analyst:</a:t>
            </a:r>
            <a:br>
              <a:rPr lang="en-US" sz="3200" b="1" dirty="0">
                <a:latin typeface="Roboto" panose="02000000000000000000" pitchFamily="2" charset="0"/>
                <a:ea typeface="Roboto" panose="02000000000000000000" pitchFamily="2" charset="0"/>
              </a:rPr>
            </a:br>
            <a:endParaRPr lang="en-IN" sz="3200" b="1" dirty="0"/>
          </a:p>
        </p:txBody>
      </p:sp>
      <p:sp>
        <p:nvSpPr>
          <p:cNvPr id="3" name="Content Placeholder 2">
            <a:extLst>
              <a:ext uri="{FF2B5EF4-FFF2-40B4-BE49-F238E27FC236}">
                <a16:creationId xmlns:a16="http://schemas.microsoft.com/office/drawing/2014/main" id="{21CB58CF-BDF3-4071-9284-75AB0C620329}"/>
              </a:ext>
            </a:extLst>
          </p:cNvPr>
          <p:cNvSpPr>
            <a:spLocks noGrp="1"/>
          </p:cNvSpPr>
          <p:nvPr>
            <p:ph idx="1"/>
          </p:nvPr>
        </p:nvSpPr>
        <p:spPr>
          <a:xfrm>
            <a:off x="838200" y="1663794"/>
            <a:ext cx="10515600" cy="4855975"/>
          </a:xfrm>
        </p:spPr>
        <p:txBody>
          <a:bodyPr>
            <a:normAutofit fontScale="77500" lnSpcReduction="20000"/>
          </a:bodyPr>
          <a:lstStyle/>
          <a:p>
            <a:pPr>
              <a:lnSpc>
                <a:spcPct val="120000"/>
              </a:lnSpc>
            </a:pPr>
            <a:r>
              <a:rPr lang="en-US" dirty="0">
                <a:latin typeface="Roboto" panose="02000000000000000000" pitchFamily="2" charset="0"/>
                <a:ea typeface="Roboto" panose="02000000000000000000" pitchFamily="2" charset="0"/>
              </a:rPr>
              <a:t>Manage the delivery of user satisfaction surveys and report on results using data visualization software</a:t>
            </a:r>
          </a:p>
          <a:p>
            <a:pPr>
              <a:lnSpc>
                <a:spcPct val="120000"/>
              </a:lnSpc>
            </a:pPr>
            <a:r>
              <a:rPr lang="en-US" dirty="0">
                <a:latin typeface="Roboto" panose="02000000000000000000" pitchFamily="2" charset="0"/>
                <a:ea typeface="Roboto" panose="02000000000000000000" pitchFamily="2" charset="0"/>
              </a:rPr>
              <a:t>Work with business line owners to develop requirements, define success metrics, manage and execute analytical projects, and evaluate results</a:t>
            </a:r>
          </a:p>
          <a:p>
            <a:pPr>
              <a:lnSpc>
                <a:spcPct val="120000"/>
              </a:lnSpc>
            </a:pPr>
            <a:r>
              <a:rPr lang="en-US" dirty="0">
                <a:latin typeface="Roboto" panose="02000000000000000000" pitchFamily="2" charset="0"/>
                <a:ea typeface="Roboto" panose="02000000000000000000" pitchFamily="2" charset="0"/>
              </a:rPr>
              <a:t>Monitor practices, processes, and systems to identify opportunities for improvement</a:t>
            </a:r>
          </a:p>
          <a:p>
            <a:pPr>
              <a:lnSpc>
                <a:spcPct val="120000"/>
              </a:lnSpc>
            </a:pPr>
            <a:r>
              <a:rPr lang="en-US" dirty="0">
                <a:latin typeface="Roboto" panose="02000000000000000000" pitchFamily="2" charset="0"/>
                <a:ea typeface="Roboto" panose="02000000000000000000" pitchFamily="2" charset="0"/>
              </a:rPr>
              <a:t>Proactively communicate and collaborate with stakeholders, business units, technical teams and support teams to define concepts and analyze needs and functional requirements</a:t>
            </a:r>
          </a:p>
          <a:p>
            <a:pPr>
              <a:lnSpc>
                <a:spcPct val="120000"/>
              </a:lnSpc>
            </a:pPr>
            <a:r>
              <a:rPr lang="en-US" dirty="0">
                <a:latin typeface="Roboto" panose="02000000000000000000" pitchFamily="2" charset="0"/>
                <a:ea typeface="Roboto" panose="02000000000000000000" pitchFamily="2" charset="0"/>
              </a:rPr>
              <a:t>Translate important questions into concrete analytical tasks</a:t>
            </a:r>
          </a:p>
          <a:p>
            <a:pPr>
              <a:lnSpc>
                <a:spcPct val="120000"/>
              </a:lnSpc>
            </a:pPr>
            <a:r>
              <a:rPr lang="en-US" dirty="0">
                <a:latin typeface="Roboto" panose="02000000000000000000" pitchFamily="2" charset="0"/>
                <a:ea typeface="Roboto" panose="02000000000000000000" pitchFamily="2" charset="0"/>
              </a:rPr>
              <a:t>Gather new data to answer client questions, collating and organizing data from multiple sources</a:t>
            </a:r>
          </a:p>
        </p:txBody>
      </p:sp>
    </p:spTree>
    <p:extLst>
      <p:ext uri="{BB962C8B-B14F-4D97-AF65-F5344CB8AC3E}">
        <p14:creationId xmlns:p14="http://schemas.microsoft.com/office/powerpoint/2010/main" val="28288537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D4CC1D-6C6F-464D-BEC3-0E45862D99FA}"/>
              </a:ext>
            </a:extLst>
          </p:cNvPr>
          <p:cNvSpPr>
            <a:spLocks noGrp="1"/>
          </p:cNvSpPr>
          <p:nvPr>
            <p:ph idx="1"/>
          </p:nvPr>
        </p:nvSpPr>
        <p:spPr>
          <a:xfrm>
            <a:off x="838200" y="376519"/>
            <a:ext cx="10515600" cy="6320118"/>
          </a:xfrm>
        </p:spPr>
        <p:txBody>
          <a:bodyPr>
            <a:normAutofit fontScale="85000" lnSpcReduction="20000"/>
          </a:bodyPr>
          <a:lstStyle/>
          <a:p>
            <a:pPr>
              <a:lnSpc>
                <a:spcPct val="120000"/>
              </a:lnSpc>
            </a:pPr>
            <a:r>
              <a:rPr lang="en-US" dirty="0">
                <a:latin typeface="Roboto" panose="02000000000000000000" pitchFamily="2" charset="0"/>
                <a:ea typeface="Roboto" panose="02000000000000000000" pitchFamily="2" charset="0"/>
              </a:rPr>
              <a:t>Apply analytical techniques and tools to extract and present new insights to clients using reports and/or interactive dashboards</a:t>
            </a:r>
          </a:p>
          <a:p>
            <a:pPr>
              <a:lnSpc>
                <a:spcPct val="120000"/>
              </a:lnSpc>
            </a:pPr>
            <a:r>
              <a:rPr lang="en-US" dirty="0">
                <a:latin typeface="Roboto" panose="02000000000000000000" pitchFamily="2" charset="0"/>
                <a:ea typeface="Roboto" panose="02000000000000000000" pitchFamily="2" charset="0"/>
              </a:rPr>
              <a:t>Relay complex concepts and data into visualizations</a:t>
            </a:r>
          </a:p>
          <a:p>
            <a:pPr>
              <a:lnSpc>
                <a:spcPct val="120000"/>
              </a:lnSpc>
            </a:pPr>
            <a:r>
              <a:rPr lang="en-US" dirty="0">
                <a:latin typeface="Roboto" panose="02000000000000000000" pitchFamily="2" charset="0"/>
                <a:ea typeface="Roboto" panose="02000000000000000000" pitchFamily="2" charset="0"/>
              </a:rPr>
              <a:t>Collaborate with data scientists and other team members to find the best product solutions</a:t>
            </a:r>
          </a:p>
          <a:p>
            <a:pPr>
              <a:lnSpc>
                <a:spcPct val="120000"/>
              </a:lnSpc>
            </a:pPr>
            <a:r>
              <a:rPr lang="en-US" dirty="0">
                <a:latin typeface="Roboto" panose="02000000000000000000" pitchFamily="2" charset="0"/>
                <a:ea typeface="Roboto" panose="02000000000000000000" pitchFamily="2" charset="0"/>
              </a:rPr>
              <a:t>Design, build, test and maintain backend code</a:t>
            </a:r>
          </a:p>
          <a:p>
            <a:pPr>
              <a:lnSpc>
                <a:spcPct val="120000"/>
              </a:lnSpc>
            </a:pPr>
            <a:r>
              <a:rPr lang="en-US" dirty="0">
                <a:latin typeface="Roboto" panose="02000000000000000000" pitchFamily="2" charset="0"/>
                <a:ea typeface="Roboto" panose="02000000000000000000" pitchFamily="2" charset="0"/>
              </a:rPr>
              <a:t>Establish data processes, define data quality criteria, and implement data quality processes</a:t>
            </a:r>
          </a:p>
          <a:p>
            <a:pPr>
              <a:lnSpc>
                <a:spcPct val="120000"/>
              </a:lnSpc>
            </a:pPr>
            <a:r>
              <a:rPr lang="en-US" dirty="0">
                <a:latin typeface="Roboto" panose="02000000000000000000" pitchFamily="2" charset="0"/>
                <a:ea typeface="Roboto" panose="02000000000000000000" pitchFamily="2" charset="0"/>
              </a:rPr>
              <a:t>Take ownership of the codebase, including suggestions for improvements and refactoring</a:t>
            </a:r>
          </a:p>
          <a:p>
            <a:pPr>
              <a:lnSpc>
                <a:spcPct val="120000"/>
              </a:lnSpc>
            </a:pPr>
            <a:r>
              <a:rPr lang="en-US" dirty="0">
                <a:latin typeface="Roboto" panose="02000000000000000000" pitchFamily="2" charset="0"/>
                <a:ea typeface="Roboto" panose="02000000000000000000" pitchFamily="2" charset="0"/>
              </a:rPr>
              <a:t>Build data validation models and tools to ensure data being recorded is accurate</a:t>
            </a:r>
          </a:p>
          <a:p>
            <a:pPr>
              <a:lnSpc>
                <a:spcPct val="120000"/>
              </a:lnSpc>
            </a:pPr>
            <a:r>
              <a:rPr lang="en-US" dirty="0">
                <a:latin typeface="Roboto" panose="02000000000000000000" pitchFamily="2" charset="0"/>
                <a:ea typeface="Roboto" panose="02000000000000000000" pitchFamily="2" charset="0"/>
              </a:rPr>
              <a:t>Work as part of a team to evaluate and analyze key data that will be used to shape future business strategies</a:t>
            </a:r>
            <a:endParaRPr lang="en-IN" dirty="0">
              <a:latin typeface="Roboto" panose="02000000000000000000" pitchFamily="2" charset="0"/>
              <a:ea typeface="Roboto" panose="02000000000000000000" pitchFamily="2" charset="0"/>
            </a:endParaRPr>
          </a:p>
          <a:p>
            <a:pPr>
              <a:lnSpc>
                <a:spcPct val="120000"/>
              </a:lnSpc>
            </a:pPr>
            <a:endParaRPr lang="en-IN" dirty="0"/>
          </a:p>
        </p:txBody>
      </p:sp>
    </p:spTree>
    <p:extLst>
      <p:ext uri="{BB962C8B-B14F-4D97-AF65-F5344CB8AC3E}">
        <p14:creationId xmlns:p14="http://schemas.microsoft.com/office/powerpoint/2010/main" val="38909011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4371D-05F2-4573-B677-187C3B6CD44D}"/>
              </a:ext>
            </a:extLst>
          </p:cNvPr>
          <p:cNvSpPr>
            <a:spLocks noGrp="1"/>
          </p:cNvSpPr>
          <p:nvPr>
            <p:ph type="title"/>
          </p:nvPr>
        </p:nvSpPr>
        <p:spPr/>
        <p:txBody>
          <a:bodyPr>
            <a:normAutofit/>
          </a:bodyPr>
          <a:lstStyle/>
          <a:p>
            <a:pPr algn="ctr"/>
            <a:r>
              <a:rPr lang="en-US" b="1" dirty="0">
                <a:latin typeface="Roboto" panose="02000000000000000000" pitchFamily="2" charset="0"/>
                <a:ea typeface="Roboto" panose="02000000000000000000" pitchFamily="2" charset="0"/>
              </a:rPr>
              <a:t>Types of Data Analysis!!!</a:t>
            </a:r>
            <a:endParaRPr lang="en-IN" b="1" dirty="0">
              <a:latin typeface="Roboto" panose="02000000000000000000" pitchFamily="2" charset="0"/>
              <a:ea typeface="Roboto" panose="02000000000000000000" pitchFamily="2" charset="0"/>
            </a:endParaRPr>
          </a:p>
        </p:txBody>
      </p:sp>
      <p:pic>
        <p:nvPicPr>
          <p:cNvPr id="2050" name="Picture 2" descr="The four main types of data analytics: Descriptive, diagnostic, predictive, and prescriptive">
            <a:extLst>
              <a:ext uri="{FF2B5EF4-FFF2-40B4-BE49-F238E27FC236}">
                <a16:creationId xmlns:a16="http://schemas.microsoft.com/office/drawing/2014/main" id="{02B1CDD5-8D93-413C-82AB-9E14EAFEAE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5912" y="2157470"/>
            <a:ext cx="9480176" cy="4100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02477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4D1CAAF-AE29-4C9C-A321-57E1E25EC1BA}"/>
              </a:ext>
            </a:extLst>
          </p:cNvPr>
          <p:cNvPicPr>
            <a:picLocks noChangeAspect="1"/>
          </p:cNvPicPr>
          <p:nvPr/>
        </p:nvPicPr>
        <p:blipFill>
          <a:blip r:embed="rId2"/>
          <a:stretch>
            <a:fillRect/>
          </a:stretch>
        </p:blipFill>
        <p:spPr>
          <a:xfrm>
            <a:off x="466165" y="316993"/>
            <a:ext cx="11216858" cy="6200347"/>
          </a:xfrm>
          <a:prstGeom prst="rect">
            <a:avLst/>
          </a:prstGeom>
        </p:spPr>
      </p:pic>
    </p:spTree>
    <p:extLst>
      <p:ext uri="{BB962C8B-B14F-4D97-AF65-F5344CB8AC3E}">
        <p14:creationId xmlns:p14="http://schemas.microsoft.com/office/powerpoint/2010/main" val="39268467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C91E4291-08E3-480B-9877-67C3EF4E56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8918" y="327211"/>
            <a:ext cx="7100050" cy="6096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F583241-CACC-46EA-8772-F94AB24ECA5B}"/>
              </a:ext>
            </a:extLst>
          </p:cNvPr>
          <p:cNvSpPr txBox="1"/>
          <p:nvPr/>
        </p:nvSpPr>
        <p:spPr>
          <a:xfrm>
            <a:off x="753032" y="2533906"/>
            <a:ext cx="6033250" cy="1446550"/>
          </a:xfrm>
          <a:prstGeom prst="rect">
            <a:avLst/>
          </a:prstGeom>
          <a:noFill/>
        </p:spPr>
        <p:txBody>
          <a:bodyPr wrap="square">
            <a:spAutoFit/>
          </a:bodyPr>
          <a:lstStyle/>
          <a:p>
            <a:r>
              <a:rPr lang="en-US" sz="4400" b="1" dirty="0">
                <a:latin typeface="Roboto" panose="02000000000000000000" pitchFamily="2" charset="0"/>
                <a:ea typeface="Roboto" panose="02000000000000000000" pitchFamily="2" charset="0"/>
              </a:rPr>
              <a:t>Descriptive </a:t>
            </a:r>
          </a:p>
          <a:p>
            <a:r>
              <a:rPr lang="en-US" sz="4400" b="1" dirty="0">
                <a:latin typeface="Roboto" panose="02000000000000000000" pitchFamily="2" charset="0"/>
                <a:ea typeface="Roboto" panose="02000000000000000000" pitchFamily="2" charset="0"/>
              </a:rPr>
              <a:t>Analytics!!!</a:t>
            </a:r>
            <a:endParaRPr lang="en-IN" sz="4400" dirty="0"/>
          </a:p>
        </p:txBody>
      </p:sp>
    </p:spTree>
    <p:extLst>
      <p:ext uri="{BB962C8B-B14F-4D97-AF65-F5344CB8AC3E}">
        <p14:creationId xmlns:p14="http://schemas.microsoft.com/office/powerpoint/2010/main" val="30569276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7A7BF-8F79-4CD9-9CCA-88503EEDAACC}"/>
              </a:ext>
            </a:extLst>
          </p:cNvPr>
          <p:cNvSpPr>
            <a:spLocks noGrp="1"/>
          </p:cNvSpPr>
          <p:nvPr>
            <p:ph type="title"/>
          </p:nvPr>
        </p:nvSpPr>
        <p:spPr/>
        <p:txBody>
          <a:bodyPr>
            <a:normAutofit fontScale="90000"/>
          </a:bodyPr>
          <a:lstStyle/>
          <a:p>
            <a:br>
              <a:rPr lang="en-US" dirty="0">
                <a:latin typeface="Roboto" panose="02000000000000000000" pitchFamily="2" charset="0"/>
                <a:ea typeface="Roboto" panose="02000000000000000000" pitchFamily="2" charset="0"/>
              </a:rPr>
            </a:br>
            <a:r>
              <a:rPr lang="en-US" b="1" dirty="0">
                <a:latin typeface="Roboto" panose="02000000000000000000" pitchFamily="2" charset="0"/>
                <a:ea typeface="Roboto" panose="02000000000000000000" pitchFamily="2" charset="0"/>
              </a:rPr>
              <a:t>Descriptive Analytics!!!</a:t>
            </a:r>
            <a:br>
              <a:rPr lang="en-US" b="1" dirty="0">
                <a:latin typeface="Roboto" panose="02000000000000000000" pitchFamily="2" charset="0"/>
                <a:ea typeface="Roboto" panose="02000000000000000000" pitchFamily="2" charset="0"/>
              </a:rPr>
            </a:br>
            <a:endParaRPr lang="en-IN" b="1" dirty="0"/>
          </a:p>
        </p:txBody>
      </p:sp>
      <p:sp>
        <p:nvSpPr>
          <p:cNvPr id="3" name="Content Placeholder 2">
            <a:extLst>
              <a:ext uri="{FF2B5EF4-FFF2-40B4-BE49-F238E27FC236}">
                <a16:creationId xmlns:a16="http://schemas.microsoft.com/office/drawing/2014/main" id="{3115835A-792C-44FD-82C7-FB1AF3A1552A}"/>
              </a:ext>
            </a:extLst>
          </p:cNvPr>
          <p:cNvSpPr>
            <a:spLocks noGrp="1"/>
          </p:cNvSpPr>
          <p:nvPr>
            <p:ph idx="1"/>
          </p:nvPr>
        </p:nvSpPr>
        <p:spPr>
          <a:xfrm>
            <a:off x="838200" y="1690688"/>
            <a:ext cx="10515600" cy="4907335"/>
          </a:xfrm>
        </p:spPr>
        <p:txBody>
          <a:bodyPr>
            <a:normAutofit fontScale="70000" lnSpcReduction="20000"/>
          </a:bodyPr>
          <a:lstStyle/>
          <a:p>
            <a:pPr>
              <a:lnSpc>
                <a:spcPct val="110000"/>
              </a:lnSpc>
            </a:pPr>
            <a:r>
              <a:rPr lang="en-US" dirty="0">
                <a:latin typeface="Roboto" panose="02000000000000000000" pitchFamily="2" charset="0"/>
                <a:ea typeface="Roboto" panose="02000000000000000000" pitchFamily="2" charset="0"/>
              </a:rPr>
              <a:t>Descriptive analytics is a simple, surface-level type of analysis that looks at </a:t>
            </a:r>
            <a:r>
              <a:rPr lang="en-US" b="1" dirty="0">
                <a:latin typeface="Roboto" panose="02000000000000000000" pitchFamily="2" charset="0"/>
                <a:ea typeface="Roboto" panose="02000000000000000000" pitchFamily="2" charset="0"/>
              </a:rPr>
              <a:t>what has happened in the past</a:t>
            </a:r>
            <a:r>
              <a:rPr lang="en-US" dirty="0">
                <a:latin typeface="Roboto" panose="02000000000000000000" pitchFamily="2" charset="0"/>
                <a:ea typeface="Roboto" panose="02000000000000000000" pitchFamily="2" charset="0"/>
              </a:rPr>
              <a:t>. </a:t>
            </a:r>
          </a:p>
          <a:p>
            <a:pPr>
              <a:lnSpc>
                <a:spcPct val="110000"/>
              </a:lnSpc>
            </a:pPr>
            <a:endParaRPr lang="en-US" dirty="0">
              <a:latin typeface="Roboto" panose="02000000000000000000" pitchFamily="2" charset="0"/>
              <a:ea typeface="Roboto" panose="02000000000000000000" pitchFamily="2" charset="0"/>
            </a:endParaRPr>
          </a:p>
          <a:p>
            <a:pPr>
              <a:lnSpc>
                <a:spcPct val="110000"/>
              </a:lnSpc>
            </a:pPr>
            <a:r>
              <a:rPr lang="en-US" dirty="0">
                <a:latin typeface="Roboto" panose="02000000000000000000" pitchFamily="2" charset="0"/>
                <a:ea typeface="Roboto" panose="02000000000000000000" pitchFamily="2" charset="0"/>
              </a:rPr>
              <a:t>The two main techniques used in descriptive analytics are data aggregation and data mining—so, the data analyst first gathers the data and presents it in a summarized format (that’s the aggregation part) and then “mines” the data to discover patterns. </a:t>
            </a:r>
          </a:p>
          <a:p>
            <a:pPr>
              <a:lnSpc>
                <a:spcPct val="110000"/>
              </a:lnSpc>
            </a:pPr>
            <a:endParaRPr lang="en-US" dirty="0">
              <a:latin typeface="Roboto" panose="02000000000000000000" pitchFamily="2" charset="0"/>
              <a:ea typeface="Roboto" panose="02000000000000000000" pitchFamily="2" charset="0"/>
            </a:endParaRPr>
          </a:p>
          <a:p>
            <a:pPr>
              <a:lnSpc>
                <a:spcPct val="110000"/>
              </a:lnSpc>
            </a:pPr>
            <a:r>
              <a:rPr lang="en-US" dirty="0">
                <a:latin typeface="Roboto" panose="02000000000000000000" pitchFamily="2" charset="0"/>
                <a:ea typeface="Roboto" panose="02000000000000000000" pitchFamily="2" charset="0"/>
              </a:rPr>
              <a:t>The data is then presented in a way that can be easily understood by a wide audience (not just data experts). </a:t>
            </a:r>
          </a:p>
          <a:p>
            <a:pPr>
              <a:lnSpc>
                <a:spcPct val="110000"/>
              </a:lnSpc>
            </a:pPr>
            <a:endParaRPr lang="en-US" dirty="0">
              <a:latin typeface="Roboto" panose="02000000000000000000" pitchFamily="2" charset="0"/>
              <a:ea typeface="Roboto" panose="02000000000000000000" pitchFamily="2" charset="0"/>
            </a:endParaRPr>
          </a:p>
          <a:p>
            <a:pPr>
              <a:lnSpc>
                <a:spcPct val="110000"/>
              </a:lnSpc>
            </a:pPr>
            <a:r>
              <a:rPr lang="en-US" dirty="0">
                <a:latin typeface="Roboto" panose="02000000000000000000" pitchFamily="2" charset="0"/>
                <a:ea typeface="Roboto" panose="02000000000000000000" pitchFamily="2" charset="0"/>
              </a:rPr>
              <a:t>It’s important to note that descriptive analytics doesn’t try to explain the historical data or establish cause-and-effect relationships; at this stage, it’s simply a case of determining and describing the “what”. Descriptive analytics draws on descriptive statistics, which you can learn about here.</a:t>
            </a:r>
            <a:endParaRPr lang="en-IN"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7044980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1F48109B-C939-4C06-B587-53208F5B61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9206" y="947002"/>
            <a:ext cx="7431478" cy="496399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47C2966-4BC5-47A0-AFBD-79EFDF77C28E}"/>
              </a:ext>
            </a:extLst>
          </p:cNvPr>
          <p:cNvSpPr txBox="1"/>
          <p:nvPr/>
        </p:nvSpPr>
        <p:spPr>
          <a:xfrm>
            <a:off x="717176" y="2705724"/>
            <a:ext cx="6096000" cy="1446550"/>
          </a:xfrm>
          <a:prstGeom prst="rect">
            <a:avLst/>
          </a:prstGeom>
          <a:noFill/>
        </p:spPr>
        <p:txBody>
          <a:bodyPr wrap="square">
            <a:spAutoFit/>
          </a:bodyPr>
          <a:lstStyle/>
          <a:p>
            <a:r>
              <a:rPr lang="en-US" sz="4400" b="1" dirty="0">
                <a:latin typeface="Roboto" panose="02000000000000000000" pitchFamily="2" charset="0"/>
                <a:ea typeface="Roboto" panose="02000000000000000000" pitchFamily="2" charset="0"/>
              </a:rPr>
              <a:t>Diagnostic </a:t>
            </a:r>
          </a:p>
          <a:p>
            <a:r>
              <a:rPr lang="en-US" sz="4400" b="1" dirty="0">
                <a:latin typeface="Roboto" panose="02000000000000000000" pitchFamily="2" charset="0"/>
                <a:ea typeface="Roboto" panose="02000000000000000000" pitchFamily="2" charset="0"/>
              </a:rPr>
              <a:t>Analytics!!!</a:t>
            </a:r>
            <a:endParaRPr lang="en-IN" sz="4400" dirty="0"/>
          </a:p>
        </p:txBody>
      </p:sp>
    </p:spTree>
    <p:extLst>
      <p:ext uri="{BB962C8B-B14F-4D97-AF65-F5344CB8AC3E}">
        <p14:creationId xmlns:p14="http://schemas.microsoft.com/office/powerpoint/2010/main" val="1755507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F7C07-361A-4EDB-A8CF-30235A4D19FA}"/>
              </a:ext>
            </a:extLst>
          </p:cNvPr>
          <p:cNvSpPr>
            <a:spLocks noGrp="1"/>
          </p:cNvSpPr>
          <p:nvPr>
            <p:ph type="title"/>
          </p:nvPr>
        </p:nvSpPr>
        <p:spPr/>
        <p:txBody>
          <a:bodyPr>
            <a:normAutofit fontScale="90000"/>
          </a:bodyPr>
          <a:lstStyle/>
          <a:p>
            <a:br>
              <a:rPr lang="en-US" dirty="0">
                <a:latin typeface="Roboto" panose="02000000000000000000" pitchFamily="2" charset="0"/>
                <a:ea typeface="Roboto" panose="02000000000000000000" pitchFamily="2" charset="0"/>
              </a:rPr>
            </a:br>
            <a:r>
              <a:rPr lang="en-US" b="1" dirty="0">
                <a:latin typeface="Roboto" panose="02000000000000000000" pitchFamily="2" charset="0"/>
                <a:ea typeface="Roboto" panose="02000000000000000000" pitchFamily="2" charset="0"/>
              </a:rPr>
              <a:t>Diagnostic Analytics!!!</a:t>
            </a:r>
            <a:br>
              <a:rPr lang="en-US" b="1" dirty="0">
                <a:latin typeface="Roboto" panose="02000000000000000000" pitchFamily="2" charset="0"/>
                <a:ea typeface="Roboto" panose="02000000000000000000" pitchFamily="2" charset="0"/>
              </a:rPr>
            </a:br>
            <a:endParaRPr lang="en-IN" b="1" dirty="0"/>
          </a:p>
        </p:txBody>
      </p:sp>
      <p:sp>
        <p:nvSpPr>
          <p:cNvPr id="3" name="Content Placeholder 2">
            <a:extLst>
              <a:ext uri="{FF2B5EF4-FFF2-40B4-BE49-F238E27FC236}">
                <a16:creationId xmlns:a16="http://schemas.microsoft.com/office/drawing/2014/main" id="{15794D7F-BAB3-49C6-B764-5561D42F7B02}"/>
              </a:ext>
            </a:extLst>
          </p:cNvPr>
          <p:cNvSpPr>
            <a:spLocks noGrp="1"/>
          </p:cNvSpPr>
          <p:nvPr>
            <p:ph idx="1"/>
          </p:nvPr>
        </p:nvSpPr>
        <p:spPr>
          <a:xfrm>
            <a:off x="838200" y="1690688"/>
            <a:ext cx="10515600" cy="4802187"/>
          </a:xfrm>
        </p:spPr>
        <p:txBody>
          <a:bodyPr>
            <a:normAutofit fontScale="62500" lnSpcReduction="20000"/>
          </a:bodyPr>
          <a:lstStyle/>
          <a:p>
            <a:pPr marL="0" indent="0">
              <a:lnSpc>
                <a:spcPct val="110000"/>
              </a:lnSpc>
              <a:buNone/>
            </a:pPr>
            <a:r>
              <a:rPr lang="en-US" dirty="0">
                <a:latin typeface="Roboto" panose="02000000000000000000" pitchFamily="2" charset="0"/>
                <a:ea typeface="Roboto" panose="02000000000000000000" pitchFamily="2" charset="0"/>
              </a:rPr>
              <a:t>While descriptive analytics looks at the “what”, diagnostic analytics explores the “why”. </a:t>
            </a:r>
          </a:p>
          <a:p>
            <a:pPr marL="0" indent="0">
              <a:lnSpc>
                <a:spcPct val="110000"/>
              </a:lnSpc>
              <a:buNone/>
            </a:pPr>
            <a:endParaRPr lang="en-US" dirty="0">
              <a:latin typeface="Roboto" panose="02000000000000000000" pitchFamily="2" charset="0"/>
              <a:ea typeface="Roboto" panose="02000000000000000000" pitchFamily="2" charset="0"/>
            </a:endParaRPr>
          </a:p>
          <a:p>
            <a:pPr marL="0" indent="0">
              <a:lnSpc>
                <a:spcPct val="110000"/>
              </a:lnSpc>
              <a:buNone/>
            </a:pPr>
            <a:r>
              <a:rPr lang="en-US" dirty="0">
                <a:latin typeface="Roboto" panose="02000000000000000000" pitchFamily="2" charset="0"/>
                <a:ea typeface="Roboto" panose="02000000000000000000" pitchFamily="2" charset="0"/>
              </a:rPr>
              <a:t>When running diagnostic analytics, data analysts will first seek to identify anomalies within the data—that is, anything that cannot be explained by the data in front of them. </a:t>
            </a:r>
          </a:p>
          <a:p>
            <a:pPr marL="0" indent="0">
              <a:lnSpc>
                <a:spcPct val="110000"/>
              </a:lnSpc>
              <a:buNone/>
            </a:pPr>
            <a:endParaRPr lang="en-US" dirty="0">
              <a:latin typeface="Roboto" panose="02000000000000000000" pitchFamily="2" charset="0"/>
              <a:ea typeface="Roboto" panose="02000000000000000000" pitchFamily="2" charset="0"/>
            </a:endParaRPr>
          </a:p>
          <a:p>
            <a:pPr marL="0" indent="0">
              <a:lnSpc>
                <a:spcPct val="110000"/>
              </a:lnSpc>
              <a:buNone/>
            </a:pPr>
            <a:r>
              <a:rPr lang="en-US" dirty="0">
                <a:latin typeface="Roboto" panose="02000000000000000000" pitchFamily="2" charset="0"/>
                <a:ea typeface="Roboto" panose="02000000000000000000" pitchFamily="2" charset="0"/>
              </a:rPr>
              <a:t>For example: If the data shows that there was a sudden drop in sales for the month of March, the data analyst will need to investigate the cause. </a:t>
            </a:r>
          </a:p>
          <a:p>
            <a:pPr marL="0" indent="0">
              <a:lnSpc>
                <a:spcPct val="110000"/>
              </a:lnSpc>
              <a:buNone/>
            </a:pPr>
            <a:endParaRPr lang="en-US" dirty="0">
              <a:latin typeface="Roboto" panose="02000000000000000000" pitchFamily="2" charset="0"/>
              <a:ea typeface="Roboto" panose="02000000000000000000" pitchFamily="2" charset="0"/>
            </a:endParaRPr>
          </a:p>
          <a:p>
            <a:pPr marL="0" indent="0">
              <a:lnSpc>
                <a:spcPct val="110000"/>
              </a:lnSpc>
              <a:buNone/>
            </a:pPr>
            <a:r>
              <a:rPr lang="en-US" dirty="0">
                <a:latin typeface="Roboto" panose="02000000000000000000" pitchFamily="2" charset="0"/>
                <a:ea typeface="Roboto" panose="02000000000000000000" pitchFamily="2" charset="0"/>
              </a:rPr>
              <a:t>To do this, they’ll embark on what’s known as the discovery phase, identifying any additional data sources that might tell them more about why such anomalies arose. </a:t>
            </a:r>
          </a:p>
          <a:p>
            <a:pPr marL="0" indent="0">
              <a:lnSpc>
                <a:spcPct val="110000"/>
              </a:lnSpc>
              <a:buNone/>
            </a:pPr>
            <a:endParaRPr lang="en-US" dirty="0">
              <a:latin typeface="Roboto" panose="02000000000000000000" pitchFamily="2" charset="0"/>
              <a:ea typeface="Roboto" panose="02000000000000000000" pitchFamily="2" charset="0"/>
            </a:endParaRPr>
          </a:p>
          <a:p>
            <a:pPr marL="0" indent="0">
              <a:lnSpc>
                <a:spcPct val="110000"/>
              </a:lnSpc>
              <a:buNone/>
            </a:pPr>
            <a:r>
              <a:rPr lang="en-US" dirty="0">
                <a:latin typeface="Roboto" panose="02000000000000000000" pitchFamily="2" charset="0"/>
                <a:ea typeface="Roboto" panose="02000000000000000000" pitchFamily="2" charset="0"/>
              </a:rPr>
              <a:t>Finally, the data analyst will try to uncover causal relationships—for example, looking at any events that may correlate or correspond with the decrease in sales. At this stage, data analysts may use probability theory, regression analysis, filtering, and time-series data analytics.</a:t>
            </a:r>
            <a:endParaRPr lang="en-IN"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4983270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FAFFC292-AF53-4C10-9D1F-33C13A8DC7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5858" y="824753"/>
            <a:ext cx="7797512" cy="520849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97953CF-67F8-484D-B28C-060AAFD08291}"/>
              </a:ext>
            </a:extLst>
          </p:cNvPr>
          <p:cNvSpPr txBox="1"/>
          <p:nvPr/>
        </p:nvSpPr>
        <p:spPr>
          <a:xfrm>
            <a:off x="647242" y="2705725"/>
            <a:ext cx="6096000" cy="1446550"/>
          </a:xfrm>
          <a:prstGeom prst="rect">
            <a:avLst/>
          </a:prstGeom>
          <a:noFill/>
        </p:spPr>
        <p:txBody>
          <a:bodyPr wrap="square">
            <a:spAutoFit/>
          </a:bodyPr>
          <a:lstStyle/>
          <a:p>
            <a:r>
              <a:rPr lang="en-US" sz="4400" b="1" dirty="0">
                <a:latin typeface="Roboto" panose="02000000000000000000" pitchFamily="2" charset="0"/>
                <a:ea typeface="Roboto" panose="02000000000000000000" pitchFamily="2" charset="0"/>
              </a:rPr>
              <a:t>Predictive </a:t>
            </a:r>
          </a:p>
          <a:p>
            <a:r>
              <a:rPr lang="en-US" sz="4400" b="1" dirty="0">
                <a:latin typeface="Roboto" panose="02000000000000000000" pitchFamily="2" charset="0"/>
                <a:ea typeface="Roboto" panose="02000000000000000000" pitchFamily="2" charset="0"/>
              </a:rPr>
              <a:t>Analytics!!!</a:t>
            </a:r>
            <a:endParaRPr lang="en-IN" sz="4400" dirty="0"/>
          </a:p>
        </p:txBody>
      </p:sp>
    </p:spTree>
    <p:extLst>
      <p:ext uri="{BB962C8B-B14F-4D97-AF65-F5344CB8AC3E}">
        <p14:creationId xmlns:p14="http://schemas.microsoft.com/office/powerpoint/2010/main" val="20304739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0308D-6A83-4543-97F7-07BEFEB53F6E}"/>
              </a:ext>
            </a:extLst>
          </p:cNvPr>
          <p:cNvSpPr>
            <a:spLocks noGrp="1"/>
          </p:cNvSpPr>
          <p:nvPr>
            <p:ph type="title"/>
          </p:nvPr>
        </p:nvSpPr>
        <p:spPr/>
        <p:txBody>
          <a:bodyPr>
            <a:normAutofit fontScale="90000"/>
          </a:bodyPr>
          <a:lstStyle/>
          <a:p>
            <a:br>
              <a:rPr lang="en-US" b="1" dirty="0">
                <a:latin typeface="Roboto" panose="02000000000000000000" pitchFamily="2" charset="0"/>
                <a:ea typeface="Roboto" panose="02000000000000000000" pitchFamily="2" charset="0"/>
              </a:rPr>
            </a:br>
            <a:r>
              <a:rPr lang="en-US" b="1" dirty="0">
                <a:latin typeface="Roboto" panose="02000000000000000000" pitchFamily="2" charset="0"/>
                <a:ea typeface="Roboto" panose="02000000000000000000" pitchFamily="2" charset="0"/>
              </a:rPr>
              <a:t>Predictive Analytics!!!</a:t>
            </a:r>
            <a:br>
              <a:rPr lang="en-US" b="1" dirty="0">
                <a:latin typeface="Roboto" panose="02000000000000000000" pitchFamily="2" charset="0"/>
                <a:ea typeface="Roboto" panose="02000000000000000000" pitchFamily="2" charset="0"/>
              </a:rPr>
            </a:br>
            <a:endParaRPr lang="en-IN" b="1" dirty="0"/>
          </a:p>
        </p:txBody>
      </p:sp>
      <p:sp>
        <p:nvSpPr>
          <p:cNvPr id="3" name="Content Placeholder 2">
            <a:extLst>
              <a:ext uri="{FF2B5EF4-FFF2-40B4-BE49-F238E27FC236}">
                <a16:creationId xmlns:a16="http://schemas.microsoft.com/office/drawing/2014/main" id="{B2ED48B1-C304-409F-97DD-4058B8C7FDCA}"/>
              </a:ext>
            </a:extLst>
          </p:cNvPr>
          <p:cNvSpPr>
            <a:spLocks noGrp="1"/>
          </p:cNvSpPr>
          <p:nvPr>
            <p:ph idx="1"/>
          </p:nvPr>
        </p:nvSpPr>
        <p:spPr/>
        <p:txBody>
          <a:bodyPr>
            <a:normAutofit fontScale="62500" lnSpcReduction="20000"/>
          </a:bodyPr>
          <a:lstStyle/>
          <a:p>
            <a:pPr marL="0" indent="0">
              <a:lnSpc>
                <a:spcPct val="110000"/>
              </a:lnSpc>
              <a:buNone/>
            </a:pPr>
            <a:r>
              <a:rPr lang="en-US" dirty="0">
                <a:latin typeface="Roboto" panose="02000000000000000000" pitchFamily="2" charset="0"/>
                <a:ea typeface="Roboto" panose="02000000000000000000" pitchFamily="2" charset="0"/>
              </a:rPr>
              <a:t>Just as the name suggests, predictive analytics tries to predict what is likely to happen in the future. </a:t>
            </a:r>
          </a:p>
          <a:p>
            <a:pPr marL="0" indent="0">
              <a:lnSpc>
                <a:spcPct val="110000"/>
              </a:lnSpc>
              <a:buNone/>
            </a:pPr>
            <a:endParaRPr lang="en-US" dirty="0">
              <a:latin typeface="Roboto" panose="02000000000000000000" pitchFamily="2" charset="0"/>
              <a:ea typeface="Roboto" panose="02000000000000000000" pitchFamily="2" charset="0"/>
            </a:endParaRPr>
          </a:p>
          <a:p>
            <a:pPr marL="0" indent="0">
              <a:lnSpc>
                <a:spcPct val="110000"/>
              </a:lnSpc>
              <a:buNone/>
            </a:pPr>
            <a:r>
              <a:rPr lang="en-US" dirty="0">
                <a:latin typeface="Roboto" panose="02000000000000000000" pitchFamily="2" charset="0"/>
                <a:ea typeface="Roboto" panose="02000000000000000000" pitchFamily="2" charset="0"/>
              </a:rPr>
              <a:t>This is where data analysts start to come up with actionable, data-driven insights that the company can use to inform their next steps. </a:t>
            </a:r>
          </a:p>
          <a:p>
            <a:pPr marL="0" indent="0">
              <a:lnSpc>
                <a:spcPct val="110000"/>
              </a:lnSpc>
              <a:buNone/>
            </a:pPr>
            <a:endParaRPr lang="en-US" dirty="0">
              <a:latin typeface="Roboto" panose="02000000000000000000" pitchFamily="2" charset="0"/>
              <a:ea typeface="Roboto" panose="02000000000000000000" pitchFamily="2" charset="0"/>
            </a:endParaRPr>
          </a:p>
          <a:p>
            <a:pPr marL="0" indent="0">
              <a:lnSpc>
                <a:spcPct val="110000"/>
              </a:lnSpc>
              <a:buNone/>
            </a:pPr>
            <a:r>
              <a:rPr lang="en-US" dirty="0">
                <a:latin typeface="Roboto" panose="02000000000000000000" pitchFamily="2" charset="0"/>
                <a:ea typeface="Roboto" panose="02000000000000000000" pitchFamily="2" charset="0"/>
              </a:rPr>
              <a:t>Predictive analytics estimates the likelihood of a future outcome based on historical data and probability theory, and while it can never be completely accurate, it does eliminate much of the guesswork from key business decisions. </a:t>
            </a:r>
          </a:p>
          <a:p>
            <a:pPr marL="0" indent="0">
              <a:lnSpc>
                <a:spcPct val="110000"/>
              </a:lnSpc>
              <a:buNone/>
            </a:pPr>
            <a:endParaRPr lang="en-US" dirty="0">
              <a:latin typeface="Roboto" panose="02000000000000000000" pitchFamily="2" charset="0"/>
              <a:ea typeface="Roboto" panose="02000000000000000000" pitchFamily="2" charset="0"/>
            </a:endParaRPr>
          </a:p>
          <a:p>
            <a:pPr marL="0" indent="0">
              <a:lnSpc>
                <a:spcPct val="110000"/>
              </a:lnSpc>
              <a:buNone/>
            </a:pPr>
            <a:r>
              <a:rPr lang="en-US" dirty="0">
                <a:latin typeface="Roboto" panose="02000000000000000000" pitchFamily="2" charset="0"/>
                <a:ea typeface="Roboto" panose="02000000000000000000" pitchFamily="2" charset="0"/>
              </a:rPr>
              <a:t>Predictive analytics can be used to forecast all sorts of outcomes—from what products will be most popular at a certain time, to how much the company revenue is likely to increase or decrease in a given period. Ultimately, predictive analytics is used to increase the business’s chances of “hitting the mark” and taking the most appropriate action.</a:t>
            </a:r>
            <a:endParaRPr lang="en-IN"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5076511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4A191BC8-51B1-474E-AA43-015225D13C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9660" y="560294"/>
            <a:ext cx="7602393" cy="573741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7736032-E950-45B1-955A-92BAAD6DE362}"/>
              </a:ext>
            </a:extLst>
          </p:cNvPr>
          <p:cNvSpPr txBox="1"/>
          <p:nvPr/>
        </p:nvSpPr>
        <p:spPr>
          <a:xfrm>
            <a:off x="475129" y="2705724"/>
            <a:ext cx="6096000" cy="1446550"/>
          </a:xfrm>
          <a:prstGeom prst="rect">
            <a:avLst/>
          </a:prstGeom>
          <a:noFill/>
        </p:spPr>
        <p:txBody>
          <a:bodyPr wrap="square">
            <a:spAutoFit/>
          </a:bodyPr>
          <a:lstStyle/>
          <a:p>
            <a:r>
              <a:rPr lang="en-US" sz="4400" b="1" dirty="0">
                <a:latin typeface="Roboto" panose="02000000000000000000" pitchFamily="2" charset="0"/>
                <a:ea typeface="Roboto" panose="02000000000000000000" pitchFamily="2" charset="0"/>
              </a:rPr>
              <a:t>Prescriptive </a:t>
            </a:r>
          </a:p>
          <a:p>
            <a:r>
              <a:rPr lang="en-US" sz="4400" b="1" dirty="0">
                <a:latin typeface="Roboto" panose="02000000000000000000" pitchFamily="2" charset="0"/>
                <a:ea typeface="Roboto" panose="02000000000000000000" pitchFamily="2" charset="0"/>
              </a:rPr>
              <a:t>Analytics!!!</a:t>
            </a:r>
            <a:endParaRPr lang="en-IN" sz="4400" dirty="0"/>
          </a:p>
        </p:txBody>
      </p:sp>
    </p:spTree>
    <p:extLst>
      <p:ext uri="{BB962C8B-B14F-4D97-AF65-F5344CB8AC3E}">
        <p14:creationId xmlns:p14="http://schemas.microsoft.com/office/powerpoint/2010/main" val="35346177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AAEEC-98C3-4062-9085-603464C3DA39}"/>
              </a:ext>
            </a:extLst>
          </p:cNvPr>
          <p:cNvSpPr>
            <a:spLocks noGrp="1"/>
          </p:cNvSpPr>
          <p:nvPr>
            <p:ph type="title"/>
          </p:nvPr>
        </p:nvSpPr>
        <p:spPr/>
        <p:txBody>
          <a:bodyPr>
            <a:normAutofit fontScale="90000"/>
          </a:bodyPr>
          <a:lstStyle/>
          <a:p>
            <a:br>
              <a:rPr lang="en-US" dirty="0">
                <a:latin typeface="Roboto" panose="02000000000000000000" pitchFamily="2" charset="0"/>
                <a:ea typeface="Roboto" panose="02000000000000000000" pitchFamily="2" charset="0"/>
              </a:rPr>
            </a:br>
            <a:r>
              <a:rPr lang="en-US" b="1" dirty="0">
                <a:latin typeface="Roboto" panose="02000000000000000000" pitchFamily="2" charset="0"/>
                <a:ea typeface="Roboto" panose="02000000000000000000" pitchFamily="2" charset="0"/>
              </a:rPr>
              <a:t>Prescriptive Analytics!!!</a:t>
            </a:r>
            <a:br>
              <a:rPr lang="en-US" b="1" dirty="0">
                <a:latin typeface="Roboto" panose="02000000000000000000" pitchFamily="2" charset="0"/>
                <a:ea typeface="Roboto" panose="02000000000000000000" pitchFamily="2" charset="0"/>
              </a:rPr>
            </a:br>
            <a:endParaRPr lang="en-IN" b="1" dirty="0"/>
          </a:p>
        </p:txBody>
      </p:sp>
      <p:sp>
        <p:nvSpPr>
          <p:cNvPr id="3" name="Content Placeholder 2">
            <a:extLst>
              <a:ext uri="{FF2B5EF4-FFF2-40B4-BE49-F238E27FC236}">
                <a16:creationId xmlns:a16="http://schemas.microsoft.com/office/drawing/2014/main" id="{D5463142-A39D-4C0D-8C05-C95C55C7897F}"/>
              </a:ext>
            </a:extLst>
          </p:cNvPr>
          <p:cNvSpPr>
            <a:spLocks noGrp="1"/>
          </p:cNvSpPr>
          <p:nvPr>
            <p:ph idx="1"/>
          </p:nvPr>
        </p:nvSpPr>
        <p:spPr/>
        <p:txBody>
          <a:bodyPr>
            <a:normAutofit fontScale="62500" lnSpcReduction="20000"/>
          </a:bodyPr>
          <a:lstStyle/>
          <a:p>
            <a:pPr marL="0" indent="0">
              <a:lnSpc>
                <a:spcPct val="110000"/>
              </a:lnSpc>
              <a:buNone/>
            </a:pPr>
            <a:r>
              <a:rPr lang="en-US" dirty="0">
                <a:latin typeface="Roboto" panose="02000000000000000000" pitchFamily="2" charset="0"/>
                <a:ea typeface="Roboto" panose="02000000000000000000" pitchFamily="2" charset="0"/>
              </a:rPr>
              <a:t>Building on predictive analytics, prescriptive analytics advises on the actions and decisions that should be taken. </a:t>
            </a:r>
          </a:p>
          <a:p>
            <a:pPr marL="0" indent="0">
              <a:lnSpc>
                <a:spcPct val="110000"/>
              </a:lnSpc>
              <a:buNone/>
            </a:pPr>
            <a:endParaRPr lang="en-US" dirty="0">
              <a:latin typeface="Roboto" panose="02000000000000000000" pitchFamily="2" charset="0"/>
              <a:ea typeface="Roboto" panose="02000000000000000000" pitchFamily="2" charset="0"/>
            </a:endParaRPr>
          </a:p>
          <a:p>
            <a:pPr marL="0" indent="0">
              <a:lnSpc>
                <a:spcPct val="110000"/>
              </a:lnSpc>
              <a:buNone/>
            </a:pPr>
            <a:r>
              <a:rPr lang="en-US" dirty="0">
                <a:latin typeface="Roboto" panose="02000000000000000000" pitchFamily="2" charset="0"/>
                <a:ea typeface="Roboto" panose="02000000000000000000" pitchFamily="2" charset="0"/>
              </a:rPr>
              <a:t>In other words, prescriptive analytics shows you how you can take advantage of the outcomes that have been predicted. </a:t>
            </a:r>
          </a:p>
          <a:p>
            <a:pPr marL="0" indent="0">
              <a:lnSpc>
                <a:spcPct val="110000"/>
              </a:lnSpc>
              <a:buNone/>
            </a:pPr>
            <a:endParaRPr lang="en-US" dirty="0">
              <a:latin typeface="Roboto" panose="02000000000000000000" pitchFamily="2" charset="0"/>
              <a:ea typeface="Roboto" panose="02000000000000000000" pitchFamily="2" charset="0"/>
            </a:endParaRPr>
          </a:p>
          <a:p>
            <a:pPr marL="0" indent="0">
              <a:lnSpc>
                <a:spcPct val="110000"/>
              </a:lnSpc>
              <a:buNone/>
            </a:pPr>
            <a:r>
              <a:rPr lang="en-US" dirty="0">
                <a:latin typeface="Roboto" panose="02000000000000000000" pitchFamily="2" charset="0"/>
                <a:ea typeface="Roboto" panose="02000000000000000000" pitchFamily="2" charset="0"/>
              </a:rPr>
              <a:t>When conducting prescriptive analysis, data analysts will consider a range of possible scenarios and assess the different actions the company might take. </a:t>
            </a:r>
          </a:p>
          <a:p>
            <a:pPr marL="0" indent="0">
              <a:lnSpc>
                <a:spcPct val="110000"/>
              </a:lnSpc>
              <a:buNone/>
            </a:pPr>
            <a:endParaRPr lang="en-US" dirty="0">
              <a:latin typeface="Roboto" panose="02000000000000000000" pitchFamily="2" charset="0"/>
              <a:ea typeface="Roboto" panose="02000000000000000000" pitchFamily="2" charset="0"/>
            </a:endParaRPr>
          </a:p>
          <a:p>
            <a:pPr marL="0" indent="0">
              <a:lnSpc>
                <a:spcPct val="110000"/>
              </a:lnSpc>
              <a:buNone/>
            </a:pPr>
            <a:r>
              <a:rPr lang="en-US" dirty="0">
                <a:latin typeface="Roboto" panose="02000000000000000000" pitchFamily="2" charset="0"/>
                <a:ea typeface="Roboto" panose="02000000000000000000" pitchFamily="2" charset="0"/>
              </a:rPr>
              <a:t>Prescriptive analytics is one of the more complex types of analysis, and may involve working with algorithms, machine learning, and computational modeling procedures. However, the effective use of prescriptive analytics can have a huge impact on the company’s decision-making process and, ultimately, on the bottom line.</a:t>
            </a:r>
            <a:endParaRPr lang="en-IN"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2360916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6A79B-A20E-4EDD-8084-B9A804EC7F4C}"/>
              </a:ext>
            </a:extLst>
          </p:cNvPr>
          <p:cNvSpPr>
            <a:spLocks noGrp="1"/>
          </p:cNvSpPr>
          <p:nvPr>
            <p:ph type="title"/>
          </p:nvPr>
        </p:nvSpPr>
        <p:spPr/>
        <p:txBody>
          <a:bodyPr/>
          <a:lstStyle/>
          <a:p>
            <a:r>
              <a:rPr lang="en-US" b="1" dirty="0">
                <a:latin typeface="Roboto" panose="02000000000000000000" pitchFamily="2" charset="0"/>
                <a:ea typeface="Roboto" panose="02000000000000000000" pitchFamily="2" charset="0"/>
              </a:rPr>
              <a:t>Data Analytics </a:t>
            </a:r>
            <a:r>
              <a:rPr lang="en-US" b="1">
                <a:latin typeface="Roboto" panose="02000000000000000000" pitchFamily="2" charset="0"/>
                <a:ea typeface="Roboto" panose="02000000000000000000" pitchFamily="2" charset="0"/>
              </a:rPr>
              <a:t>Life Cycle!!!</a:t>
            </a:r>
            <a:endParaRPr lang="en-IN" b="1" dirty="0">
              <a:latin typeface="Roboto" panose="02000000000000000000" pitchFamily="2" charset="0"/>
              <a:ea typeface="Roboto" panose="02000000000000000000" pitchFamily="2" charset="0"/>
            </a:endParaRPr>
          </a:p>
        </p:txBody>
      </p:sp>
      <p:pic>
        <p:nvPicPr>
          <p:cNvPr id="3074" name="Picture 2" descr="The five steps in the data analysis process: Define the question, gather your data, clean the data, analyse the data, and visualize and share your findings">
            <a:extLst>
              <a:ext uri="{FF2B5EF4-FFF2-40B4-BE49-F238E27FC236}">
                <a16:creationId xmlns:a16="http://schemas.microsoft.com/office/drawing/2014/main" id="{B08F5F43-FB58-4371-BBA3-94773EEBC9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9735" y="2631141"/>
            <a:ext cx="10152529" cy="3384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58466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7643F-1EA7-4F86-A906-9348D020BE98}"/>
              </a:ext>
            </a:extLst>
          </p:cNvPr>
          <p:cNvSpPr>
            <a:spLocks noGrp="1"/>
          </p:cNvSpPr>
          <p:nvPr>
            <p:ph type="title"/>
          </p:nvPr>
        </p:nvSpPr>
        <p:spPr/>
        <p:txBody>
          <a:bodyPr>
            <a:normAutofit fontScale="90000"/>
          </a:bodyPr>
          <a:lstStyle/>
          <a:p>
            <a:pPr algn="ctr"/>
            <a:br>
              <a:rPr lang="en-IN" b="1" i="0" dirty="0">
                <a:solidFill>
                  <a:srgbClr val="223C50"/>
                </a:solidFill>
                <a:effectLst/>
                <a:latin typeface="var(--ds-font__dinpro--cond)"/>
              </a:rPr>
            </a:br>
            <a:br>
              <a:rPr lang="en-IN" b="1" i="0" dirty="0">
                <a:solidFill>
                  <a:srgbClr val="223C50"/>
                </a:solidFill>
                <a:effectLst/>
                <a:latin typeface="var(--ds-font__dinpro--cond)"/>
              </a:rPr>
            </a:br>
            <a:r>
              <a:rPr lang="en-IN" b="1" i="0" dirty="0">
                <a:effectLst/>
                <a:latin typeface="Roboto" panose="02000000000000000000" pitchFamily="2" charset="0"/>
                <a:ea typeface="Roboto" panose="02000000000000000000" pitchFamily="2" charset="0"/>
              </a:rPr>
              <a:t>Data Analytics </a:t>
            </a:r>
            <a:r>
              <a:rPr lang="en-IN" b="1" dirty="0">
                <a:latin typeface="Roboto" panose="02000000000000000000" pitchFamily="2" charset="0"/>
                <a:ea typeface="Roboto" panose="02000000000000000000" pitchFamily="2" charset="0"/>
              </a:rPr>
              <a:t>T</a:t>
            </a:r>
            <a:r>
              <a:rPr lang="en-IN" b="1" i="0" dirty="0">
                <a:effectLst/>
                <a:latin typeface="Roboto" panose="02000000000000000000" pitchFamily="2" charset="0"/>
                <a:ea typeface="Roboto" panose="02000000000000000000" pitchFamily="2" charset="0"/>
              </a:rPr>
              <a:t>ools!!!</a:t>
            </a:r>
            <a:br>
              <a:rPr lang="en-IN" b="1" i="0" dirty="0">
                <a:solidFill>
                  <a:srgbClr val="223C50"/>
                </a:solidFill>
                <a:effectLst/>
                <a:latin typeface="Roboto" panose="02000000000000000000" pitchFamily="2" charset="0"/>
                <a:ea typeface="Roboto" panose="02000000000000000000" pitchFamily="2" charset="0"/>
              </a:rPr>
            </a:br>
            <a:br>
              <a:rPr lang="en-IN" dirty="0"/>
            </a:br>
            <a:endParaRPr lang="en-IN" dirty="0"/>
          </a:p>
        </p:txBody>
      </p:sp>
      <p:pic>
        <p:nvPicPr>
          <p:cNvPr id="7" name="Picture 6">
            <a:extLst>
              <a:ext uri="{FF2B5EF4-FFF2-40B4-BE49-F238E27FC236}">
                <a16:creationId xmlns:a16="http://schemas.microsoft.com/office/drawing/2014/main" id="{97527F76-00B5-4ADC-B829-6847CDAB6C6D}"/>
              </a:ext>
            </a:extLst>
          </p:cNvPr>
          <p:cNvPicPr>
            <a:picLocks noChangeAspect="1"/>
          </p:cNvPicPr>
          <p:nvPr/>
        </p:nvPicPr>
        <p:blipFill>
          <a:blip r:embed="rId2"/>
          <a:stretch>
            <a:fillRect/>
          </a:stretch>
        </p:blipFill>
        <p:spPr>
          <a:xfrm>
            <a:off x="2304521" y="1943639"/>
            <a:ext cx="7582958" cy="4315427"/>
          </a:xfrm>
          <a:prstGeom prst="rect">
            <a:avLst/>
          </a:prstGeom>
        </p:spPr>
      </p:pic>
    </p:spTree>
    <p:extLst>
      <p:ext uri="{BB962C8B-B14F-4D97-AF65-F5344CB8AC3E}">
        <p14:creationId xmlns:p14="http://schemas.microsoft.com/office/powerpoint/2010/main" val="36481195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08946-B5BA-4D16-989A-7AE2FE9D14AB}"/>
              </a:ext>
            </a:extLst>
          </p:cNvPr>
          <p:cNvSpPr>
            <a:spLocks noGrp="1"/>
          </p:cNvSpPr>
          <p:nvPr>
            <p:ph type="title"/>
          </p:nvPr>
        </p:nvSpPr>
        <p:spPr/>
        <p:txBody>
          <a:bodyPr/>
          <a:lstStyle/>
          <a:p>
            <a:r>
              <a:rPr lang="en-US" b="1" dirty="0">
                <a:latin typeface="Roboto" panose="02000000000000000000" pitchFamily="2" charset="0"/>
                <a:ea typeface="Roboto" panose="02000000000000000000" pitchFamily="2" charset="0"/>
              </a:rPr>
              <a:t>Python Data Analytics Libraries!!!</a:t>
            </a:r>
            <a:endParaRPr lang="en-IN" b="1" dirty="0">
              <a:latin typeface="Roboto" panose="02000000000000000000" pitchFamily="2" charset="0"/>
              <a:ea typeface="Roboto" panose="02000000000000000000" pitchFamily="2" charset="0"/>
            </a:endParaRPr>
          </a:p>
        </p:txBody>
      </p:sp>
      <p:pic>
        <p:nvPicPr>
          <p:cNvPr id="5" name="Picture 4">
            <a:extLst>
              <a:ext uri="{FF2B5EF4-FFF2-40B4-BE49-F238E27FC236}">
                <a16:creationId xmlns:a16="http://schemas.microsoft.com/office/drawing/2014/main" id="{5D4702E1-9486-4522-AA94-BEE297C752C9}"/>
              </a:ext>
            </a:extLst>
          </p:cNvPr>
          <p:cNvPicPr>
            <a:picLocks noChangeAspect="1"/>
          </p:cNvPicPr>
          <p:nvPr/>
        </p:nvPicPr>
        <p:blipFill>
          <a:blip r:embed="rId2"/>
          <a:stretch>
            <a:fillRect/>
          </a:stretch>
        </p:blipFill>
        <p:spPr>
          <a:xfrm>
            <a:off x="1904008" y="2347157"/>
            <a:ext cx="8383984" cy="4053643"/>
          </a:xfrm>
          <a:prstGeom prst="rect">
            <a:avLst/>
          </a:prstGeom>
        </p:spPr>
      </p:pic>
    </p:spTree>
    <p:extLst>
      <p:ext uri="{BB962C8B-B14F-4D97-AF65-F5344CB8AC3E}">
        <p14:creationId xmlns:p14="http://schemas.microsoft.com/office/powerpoint/2010/main" val="33402304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C4E2396-32E8-4E86-A7F0-153CC9BF5D88}"/>
              </a:ext>
            </a:extLst>
          </p:cNvPr>
          <p:cNvSpPr txBox="1"/>
          <p:nvPr/>
        </p:nvSpPr>
        <p:spPr>
          <a:xfrm flipH="1">
            <a:off x="4017084" y="2151727"/>
            <a:ext cx="4157832" cy="2554545"/>
          </a:xfrm>
          <a:prstGeom prst="rect">
            <a:avLst/>
          </a:prstGeom>
          <a:noFill/>
        </p:spPr>
        <p:txBody>
          <a:bodyPr wrap="square" rtlCol="0">
            <a:spAutoFit/>
          </a:bodyPr>
          <a:lstStyle/>
          <a:p>
            <a:pPr algn="ctr"/>
            <a:r>
              <a:rPr lang="en-US" sz="8000" b="1" dirty="0">
                <a:latin typeface="Roboto" panose="02000000000000000000" pitchFamily="2" charset="0"/>
                <a:ea typeface="Roboto" panose="02000000000000000000" pitchFamily="2" charset="0"/>
              </a:rPr>
              <a:t>Thank You!!!</a:t>
            </a:r>
            <a:endParaRPr lang="en-IN" sz="8000" b="1"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3603926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139</TotalTime>
  <Words>1789</Words>
  <Application>Microsoft Office PowerPoint</Application>
  <PresentationFormat>Widescreen</PresentationFormat>
  <Paragraphs>136</Paragraphs>
  <Slides>31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Calibri Light</vt:lpstr>
      <vt:lpstr>Roboto</vt:lpstr>
      <vt:lpstr>var(--ds-font__dinpro--cond)</vt:lpstr>
      <vt:lpstr>Office Theme</vt:lpstr>
      <vt:lpstr>Data Analytics</vt:lpstr>
      <vt:lpstr>What is Data Analytics?</vt:lpstr>
      <vt:lpstr>  Ways to Use Data Analytics!!!  </vt:lpstr>
      <vt:lpstr>1. Improved Decision Making</vt:lpstr>
      <vt:lpstr>2. Better Customer Service</vt:lpstr>
      <vt:lpstr>3. Efficient Operations</vt:lpstr>
      <vt:lpstr>4. Effective Marketing</vt:lpstr>
      <vt:lpstr> What is Data Analytics used for? </vt:lpstr>
      <vt:lpstr>PowerPoint Presentation</vt:lpstr>
      <vt:lpstr>Data Analytics Vs Data Science!!!</vt:lpstr>
      <vt:lpstr>Data Analyst!!!</vt:lpstr>
      <vt:lpstr>Data Scientist!!!</vt:lpstr>
      <vt:lpstr>Data Analyst!!!</vt:lpstr>
      <vt:lpstr>Data Scientist!!!</vt:lpstr>
      <vt:lpstr> What does a data analyst do? </vt:lpstr>
      <vt:lpstr> Based on real job ads, here are some of the typical tasks and responsibilities of a data analyst: </vt:lpstr>
      <vt:lpstr>PowerPoint Presentation</vt:lpstr>
      <vt:lpstr>Types of Data Analysis!!!</vt:lpstr>
      <vt:lpstr>PowerPoint Presentation</vt:lpstr>
      <vt:lpstr>PowerPoint Presentation</vt:lpstr>
      <vt:lpstr> Descriptive Analytics!!! </vt:lpstr>
      <vt:lpstr>PowerPoint Presentation</vt:lpstr>
      <vt:lpstr> Diagnostic Analytics!!! </vt:lpstr>
      <vt:lpstr>PowerPoint Presentation</vt:lpstr>
      <vt:lpstr> Predictive Analytics!!! </vt:lpstr>
      <vt:lpstr>PowerPoint Presentation</vt:lpstr>
      <vt:lpstr> Prescriptive Analytics!!! </vt:lpstr>
      <vt:lpstr>Data Analytics Life Cycle!!!</vt:lpstr>
      <vt:lpstr>  Data Analytics Tools!!!  </vt:lpstr>
      <vt:lpstr>Python Data Analytics Libraries!!!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Manoj Khandelwal</dc:creator>
  <cp:lastModifiedBy>Manoj Khandelwal</cp:lastModifiedBy>
  <cp:revision>13</cp:revision>
  <dcterms:created xsi:type="dcterms:W3CDTF">2022-04-24T03:52:07Z</dcterms:created>
  <dcterms:modified xsi:type="dcterms:W3CDTF">2022-04-24T09:42:38Z</dcterms:modified>
</cp:coreProperties>
</file>